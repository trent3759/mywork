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3"/>
  </p:notesMasterIdLst>
  <p:sldIdLst>
    <p:sldId id="277" r:id="rId2"/>
    <p:sldId id="257" r:id="rId3"/>
    <p:sldId id="268" r:id="rId4"/>
    <p:sldId id="269" r:id="rId5"/>
    <p:sldId id="260" r:id="rId6"/>
    <p:sldId id="259" r:id="rId7"/>
    <p:sldId id="261" r:id="rId8"/>
    <p:sldId id="262" r:id="rId9"/>
    <p:sldId id="263" r:id="rId10"/>
    <p:sldId id="270" r:id="rId11"/>
    <p:sldId id="264" r:id="rId12"/>
    <p:sldId id="271" r:id="rId13"/>
    <p:sldId id="273" r:id="rId14"/>
    <p:sldId id="274" r:id="rId15"/>
    <p:sldId id="275" r:id="rId16"/>
    <p:sldId id="265" r:id="rId17"/>
    <p:sldId id="276" r:id="rId18"/>
    <p:sldId id="278" r:id="rId19"/>
    <p:sldId id="280" r:id="rId20"/>
    <p:sldId id="281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800080"/>
    <a:srgbClr val="FF33CC"/>
    <a:srgbClr val="9A000F"/>
    <a:srgbClr val="B80012"/>
    <a:srgbClr val="08A800"/>
    <a:srgbClr val="FF0000"/>
    <a:srgbClr val="FF3300"/>
    <a:srgbClr val="0CCE02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1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EA7DB-CBA1-423B-853B-14C4B7DEE20B}" type="datetimeFigureOut">
              <a:rPr lang="en-US"/>
              <a:t>12/6/2016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FA441-A7FA-475A-B3D8-0CC03773AE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72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FA441-A7FA-475A-B3D8-0CC03773AEBF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5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FA441-A7FA-475A-B3D8-0CC03773AEBF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09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FA441-A7FA-475A-B3D8-0CC03773AEBF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65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3FA441-A7FA-475A-B3D8-0CC03773AEB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227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FA441-A7FA-475A-B3D8-0CC03773AEBF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07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FA441-A7FA-475A-B3D8-0CC03773AEBF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75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FA441-A7FA-475A-B3D8-0CC03773AEBF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976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75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4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0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5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7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2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21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1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7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37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67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78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MHsLdYIqsD4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Lucida Console" panose="020B0609040504020204" pitchFamily="49" charset="0"/>
              </a:rPr>
              <a:t>Wireless Sensor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41793"/>
            <a:ext cx="9144000" cy="1655762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Lucida Console" panose="020B0609040504020204" pitchFamily="49" charset="0"/>
              </a:rPr>
              <a:t>A survey on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5804" y="6334780"/>
            <a:ext cx="280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Trent Scott</a:t>
            </a:r>
          </a:p>
        </p:txBody>
      </p:sp>
    </p:spTree>
    <p:extLst>
      <p:ext uri="{BB962C8B-B14F-4D97-AF65-F5344CB8AC3E}">
        <p14:creationId xmlns:p14="http://schemas.microsoft.com/office/powerpoint/2010/main" val="2084588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51" y="2352675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8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What are they?</a:t>
            </a:r>
          </a:p>
        </p:txBody>
      </p:sp>
    </p:spTree>
    <p:extLst>
      <p:ext uri="{BB962C8B-B14F-4D97-AF65-F5344CB8AC3E}">
        <p14:creationId xmlns:p14="http://schemas.microsoft.com/office/powerpoint/2010/main" val="107567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51" y="2352675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8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What are they?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52675"/>
            <a:ext cx="122097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	Main Unit</a:t>
            </a:r>
          </a:p>
          <a:p>
            <a:pPr algn="ctr"/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	Motes</a:t>
            </a:r>
          </a:p>
        </p:txBody>
      </p:sp>
    </p:spTree>
    <p:extLst>
      <p:ext uri="{BB962C8B-B14F-4D97-AF65-F5344CB8AC3E}">
        <p14:creationId xmlns:p14="http://schemas.microsoft.com/office/powerpoint/2010/main" val="425318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0.00091 -0.275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1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1526915"/>
            <a:ext cx="114807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Console" panose="020B0609040504020204" pitchFamily="49" charset="0"/>
              </a:rPr>
              <a:t>Main Unit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Console" panose="020B0609040504020204" pitchFamily="49" charset="0"/>
              </a:rPr>
              <a:t>Stronger battery/power source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Console" panose="020B0609040504020204" pitchFamily="49" charset="0"/>
              </a:rPr>
              <a:t>Better transceiver </a:t>
            </a:r>
          </a:p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Console" panose="020B0609040504020204" pitchFamily="49" charset="0"/>
              </a:rPr>
              <a:t>Motes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Console" panose="020B0609040504020204" pitchFamily="49" charset="0"/>
              </a:rPr>
              <a:t>Omni-direction transceiver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Console" panose="020B0609040504020204" pitchFamily="49" charset="0"/>
              </a:rPr>
              <a:t>Small battery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Lucida Console" panose="020B0609040504020204" pitchFamily="49" charset="0"/>
              </a:rPr>
              <a:t>Microprocessor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Lucida Console" panose="020B0609040504020204" pitchFamily="49" charset="0"/>
              </a:rPr>
              <a:t>Properties</a:t>
            </a:r>
          </a:p>
        </p:txBody>
      </p:sp>
    </p:spTree>
    <p:extLst>
      <p:ext uri="{BB962C8B-B14F-4D97-AF65-F5344CB8AC3E}">
        <p14:creationId xmlns:p14="http://schemas.microsoft.com/office/powerpoint/2010/main" val="965982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435429" y="2481942"/>
            <a:ext cx="1901371" cy="19013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715659" y="609600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3715659" y="5304971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5698676" y="2920999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8251374" y="609600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51374" y="5304971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785257" y="1291772"/>
            <a:ext cx="2180772" cy="1785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471561" y="1204684"/>
            <a:ext cx="2081895" cy="1959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85257" y="3944254"/>
            <a:ext cx="2180772" cy="1716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486980" y="3701137"/>
            <a:ext cx="1983017" cy="1872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423076" y="2920999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8882743" y="1204684"/>
            <a:ext cx="1843314" cy="2032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8882743" y="3523340"/>
            <a:ext cx="1932219" cy="2137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247248" y="1121227"/>
            <a:ext cx="1790697" cy="2115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441605" y="3523341"/>
            <a:ext cx="1688416" cy="2137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227286" y="1118448"/>
            <a:ext cx="4242711" cy="2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302209" y="5816598"/>
            <a:ext cx="4251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02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435429" y="2481942"/>
            <a:ext cx="1901371" cy="19013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715659" y="609600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715659" y="5304971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698676" y="2920999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251374" y="609600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251374" y="5304971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785257" y="1291772"/>
            <a:ext cx="2180772" cy="1785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471561" y="1204684"/>
            <a:ext cx="2081895" cy="1959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85257" y="3944254"/>
            <a:ext cx="2180772" cy="1716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486980" y="3701137"/>
            <a:ext cx="1983017" cy="1872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423076" y="2920999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>
            <a:off x="8882743" y="1204684"/>
            <a:ext cx="1843314" cy="2032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8882743" y="3523340"/>
            <a:ext cx="1932219" cy="2137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247248" y="1121227"/>
            <a:ext cx="1790697" cy="2115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441605" y="3523341"/>
            <a:ext cx="1688416" cy="2137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Down 17"/>
          <p:cNvSpPr/>
          <p:nvPr/>
        </p:nvSpPr>
        <p:spPr>
          <a:xfrm rot="3036327">
            <a:off x="2770269" y="1125249"/>
            <a:ext cx="355894" cy="2015526"/>
          </a:xfrm>
          <a:prstGeom prst="downArrow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227286" y="1118448"/>
            <a:ext cx="4242711" cy="2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Down 18"/>
          <p:cNvSpPr/>
          <p:nvPr/>
        </p:nvSpPr>
        <p:spPr>
          <a:xfrm rot="5400000">
            <a:off x="6344755" y="-526269"/>
            <a:ext cx="310922" cy="3291954"/>
          </a:xfrm>
          <a:prstGeom prst="downArrow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4302209" y="5816598"/>
            <a:ext cx="4251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xplosion: 14 Points 21"/>
          <p:cNvSpPr/>
          <p:nvPr/>
        </p:nvSpPr>
        <p:spPr>
          <a:xfrm>
            <a:off x="9222919" y="-447225"/>
            <a:ext cx="1162962" cy="1162962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path" presetSubtype="0" accel="50000" decel="5000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07407E-6 C -0.00104 4.07407E-6 -0.00182 -0.00162 -0.00182 -0.00348 C -0.00182 -0.00533 -0.00104 -0.00672 1.11022E-16 -0.00672 C 0.00104 -0.00672 0.00195 -0.00533 0.00195 -0.00348 C 0.00195 -0.00162 0.00104 4.07407E-6 1.11022E-16 4.07407E-6 Z " pathEditMode="relative" rAng="0" ptsTypes="AAAAA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19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435429" y="2481942"/>
            <a:ext cx="1901371" cy="19013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715659" y="609600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715659" y="5304971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698676" y="2920999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251374" y="609600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251374" y="5304971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785257" y="1291772"/>
            <a:ext cx="2180772" cy="1785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471561" y="1204684"/>
            <a:ext cx="2081895" cy="1959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85257" y="3944254"/>
            <a:ext cx="2180772" cy="1716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486980" y="3701137"/>
            <a:ext cx="1983017" cy="1872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423076" y="2920999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>
            <a:off x="8882743" y="1204684"/>
            <a:ext cx="1843314" cy="2032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8882743" y="3523340"/>
            <a:ext cx="1932219" cy="2137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247248" y="1121227"/>
            <a:ext cx="1790697" cy="2115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441605" y="3523341"/>
            <a:ext cx="1688416" cy="2137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Down 17"/>
          <p:cNvSpPr/>
          <p:nvPr/>
        </p:nvSpPr>
        <p:spPr>
          <a:xfrm rot="3036327">
            <a:off x="2770269" y="1125249"/>
            <a:ext cx="355894" cy="2015526"/>
          </a:xfrm>
          <a:prstGeom prst="downArrow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227286" y="1118448"/>
            <a:ext cx="4242711" cy="2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Down 18"/>
          <p:cNvSpPr/>
          <p:nvPr/>
        </p:nvSpPr>
        <p:spPr>
          <a:xfrm rot="5400000">
            <a:off x="6344755" y="-526269"/>
            <a:ext cx="310922" cy="3291954"/>
          </a:xfrm>
          <a:prstGeom prst="downArrow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4302209" y="5816598"/>
            <a:ext cx="4251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xplosion: 14 Points 21"/>
          <p:cNvSpPr/>
          <p:nvPr/>
        </p:nvSpPr>
        <p:spPr>
          <a:xfrm>
            <a:off x="9222919" y="-447225"/>
            <a:ext cx="1162962" cy="1162962"/>
          </a:xfrm>
          <a:prstGeom prst="irregularSeal2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4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4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4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4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23" grpId="0" animBg="1"/>
      <p:bldP spid="18" grpId="0" animBg="1"/>
      <p:bldP spid="19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435429" y="4198770"/>
            <a:ext cx="1901371" cy="19013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715659" y="2326428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715659" y="7021799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698676" y="4637827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251374" y="2326428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251374" y="7021799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785257" y="3008600"/>
            <a:ext cx="2180772" cy="1785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471561" y="2921512"/>
            <a:ext cx="2081895" cy="1959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85257" y="5661082"/>
            <a:ext cx="2180772" cy="1716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486980" y="5417965"/>
            <a:ext cx="1983017" cy="1872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423076" y="4637827"/>
            <a:ext cx="1023255" cy="1023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>
            <a:off x="8882743" y="2921512"/>
            <a:ext cx="1843314" cy="2032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8882743" y="5240168"/>
            <a:ext cx="1932219" cy="2137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247248" y="2838055"/>
            <a:ext cx="1790697" cy="2115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4441605" y="5240169"/>
            <a:ext cx="1688416" cy="2137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Down 17"/>
          <p:cNvSpPr/>
          <p:nvPr/>
        </p:nvSpPr>
        <p:spPr>
          <a:xfrm rot="3036327">
            <a:off x="2770269" y="2842077"/>
            <a:ext cx="355894" cy="2015526"/>
          </a:xfrm>
          <a:prstGeom prst="downArrow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4227286" y="2835276"/>
            <a:ext cx="4242711" cy="2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Down 18"/>
          <p:cNvSpPr/>
          <p:nvPr/>
        </p:nvSpPr>
        <p:spPr>
          <a:xfrm rot="5400000">
            <a:off x="6344755" y="1190559"/>
            <a:ext cx="310922" cy="3291954"/>
          </a:xfrm>
          <a:prstGeom prst="downArrow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4302209" y="7533426"/>
            <a:ext cx="4251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988588" y="2326427"/>
            <a:ext cx="1023255" cy="102325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peech Bubble: Rectangle with Corners Rounded 1"/>
          <p:cNvSpPr/>
          <p:nvPr/>
        </p:nvSpPr>
        <p:spPr>
          <a:xfrm>
            <a:off x="5698678" y="247650"/>
            <a:ext cx="2444129" cy="1640561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Malicious </a:t>
            </a:r>
            <a:endParaRPr lang="en-US" sz="2400" dirty="0"/>
          </a:p>
          <a:p>
            <a:pPr algn="ctr"/>
            <a:r>
              <a:rPr lang="EN-US" sz="2400" dirty="0"/>
              <a:t>Node</a:t>
            </a:r>
          </a:p>
        </p:txBody>
      </p:sp>
    </p:spTree>
    <p:extLst>
      <p:ext uri="{BB962C8B-B14F-4D97-AF65-F5344CB8AC3E}">
        <p14:creationId xmlns:p14="http://schemas.microsoft.com/office/powerpoint/2010/main" val="3981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851" y="2352675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8800" dirty="0">
                <a:solidFill>
                  <a:srgbClr val="9A00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Other Attacks</a:t>
            </a:r>
            <a:endParaRPr lang="EN-US" sz="8800" dirty="0">
              <a:solidFill>
                <a:srgbClr val="9A000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34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851" y="2352675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8800" dirty="0">
                <a:solidFill>
                  <a:srgbClr val="9A00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Other Attacks</a:t>
            </a:r>
            <a:endParaRPr lang="EN-US" sz="8800" dirty="0">
              <a:solidFill>
                <a:srgbClr val="9A000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5573" y="1706979"/>
            <a:ext cx="1019487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Lucida Console" panose="020B0609040504020204" pitchFamily="49" charset="0"/>
              </a:rPr>
              <a:t>Sensor Overloading</a:t>
            </a:r>
          </a:p>
          <a:p>
            <a:endParaRPr lang="en-US" sz="5400" dirty="0">
              <a:latin typeface="Lucida Console" panose="020B0609040504020204" pitchFamily="49" charset="0"/>
            </a:endParaRPr>
          </a:p>
          <a:p>
            <a:r>
              <a:rPr lang="en-US" sz="5400" dirty="0">
                <a:latin typeface="Lucida Console" panose="020B0609040504020204" pitchFamily="49" charset="0"/>
              </a:rPr>
              <a:t>Sensor Fault</a:t>
            </a:r>
          </a:p>
          <a:p>
            <a:endParaRPr lang="en-US" sz="5400" dirty="0">
              <a:latin typeface="Lucida Console" panose="020B0609040504020204" pitchFamily="49" charset="0"/>
            </a:endParaRPr>
          </a:p>
          <a:p>
            <a:r>
              <a:rPr lang="en-US" sz="5400" dirty="0">
                <a:latin typeface="Lucida Console" panose="020B0609040504020204" pitchFamily="49" charset="0"/>
              </a:rPr>
              <a:t>Malicious Commands</a:t>
            </a:r>
          </a:p>
        </p:txBody>
      </p:sp>
    </p:spTree>
    <p:extLst>
      <p:ext uri="{BB962C8B-B14F-4D97-AF65-F5344CB8AC3E}">
        <p14:creationId xmlns:p14="http://schemas.microsoft.com/office/powerpoint/2010/main" val="12950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-0.00234 -0.327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1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851" y="2352675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88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Solutions?</a:t>
            </a:r>
            <a:endParaRPr lang="EN-US" sz="88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621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Directional Antennas</a:t>
            </a:r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-407159" y="1522911"/>
            <a:ext cx="12209726" cy="48000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	Costly</a:t>
            </a:r>
          </a:p>
          <a:p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BUT</a:t>
            </a:r>
          </a:p>
          <a:p>
            <a:pPr algn="ctr"/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  <a:p>
            <a:pPr algn="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Eliminates Attacks</a:t>
            </a:r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4408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Data Integrity</a:t>
            </a:r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43719" y="1205008"/>
            <a:ext cx="12209726" cy="48000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Hash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Algo’s</a:t>
            </a:r>
            <a:endParaRPr lang="en-US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Must be efficient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Low power processing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Completed by the main unit</a:t>
            </a:r>
            <a:endParaRPr lang="EN-US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0714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Data Integrity</a:t>
            </a:r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769961" y="3330054"/>
            <a:ext cx="10669803" cy="98263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No Data Loss!</a:t>
            </a:r>
            <a:endParaRPr lang="EN-US" sz="96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1484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209726" cy="147796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Location Detection</a:t>
            </a:r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769961" y="3330054"/>
            <a:ext cx="10669803" cy="98263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96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188795" y="2349690"/>
            <a:ext cx="12209726" cy="298658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Main unit detects</a:t>
            </a:r>
          </a:p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 </a:t>
            </a:r>
          </a:p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location of motes and</a:t>
            </a:r>
          </a:p>
          <a:p>
            <a:pPr algn="ctr"/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  <a:p>
            <a:pPr algn="ctr"/>
            <a:r>
              <a:rPr lang="en-US" sz="7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 validates location changes. </a:t>
            </a:r>
            <a:endParaRPr lang="EN-US" sz="7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431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970560"/>
            <a:ext cx="12192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800" dirty="0">
                <a:solidFill>
                  <a:srgbClr val="7CCA62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ea typeface="+mj-ea"/>
                <a:cs typeface="+mj-cs"/>
              </a:rPr>
              <a:t>Modern</a:t>
            </a:r>
          </a:p>
          <a:p>
            <a:pPr algn="ctr"/>
            <a:r>
              <a:rPr lang="en-US" sz="8800" dirty="0">
                <a:solidFill>
                  <a:srgbClr val="7CCA62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ea typeface="+mj-ea"/>
                <a:cs typeface="+mj-cs"/>
              </a:rPr>
              <a:t>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967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3729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800" dirty="0">
                <a:solidFill>
                  <a:srgbClr val="7CCA62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ea typeface="+mj-ea"/>
                <a:cs typeface="+mj-cs"/>
              </a:rPr>
              <a:t>Hospitals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41444" y="2019869"/>
            <a:ext cx="1124575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Lucida Console" panose="020B0609040504020204" pitchFamily="49" charset="0"/>
              </a:rPr>
              <a:t>Remote Monitoring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Lucida Console" panose="020B0609040504020204" pitchFamily="49" charset="0"/>
              </a:rPr>
              <a:t>Command Distribution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Lucida Console" panose="020B0609040504020204" pitchFamily="49" charset="0"/>
              </a:rPr>
              <a:t>Lower Cost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Lucida Console" panose="020B0609040504020204" pitchFamily="49" charset="0"/>
              </a:rPr>
              <a:t>More Effective (Due to Cloud Computing)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6559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37294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rgbClr val="7CCA62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ea typeface="+mj-ea"/>
                <a:cs typeface="+mj-cs"/>
              </a:rPr>
              <a:t>Environmental Monitoring</a:t>
            </a:r>
            <a:endParaRPr lang="en-US" sz="6000" dirty="0"/>
          </a:p>
        </p:txBody>
      </p:sp>
      <p:sp>
        <p:nvSpPr>
          <p:cNvPr id="2" name="TextBox 1"/>
          <p:cNvSpPr txBox="1"/>
          <p:nvPr/>
        </p:nvSpPr>
        <p:spPr>
          <a:xfrm>
            <a:off x="473122" y="2320119"/>
            <a:ext cx="1124575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Lucida Console" panose="020B0609040504020204" pitchFamily="49" charset="0"/>
              </a:rPr>
              <a:t>Remote Monitoring of Conditions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Lucida Console" panose="020B0609040504020204" pitchFamily="49" charset="0"/>
              </a:rPr>
              <a:t>Distributed Detection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Lucida Console" panose="020B0609040504020204" pitchFamily="49" charset="0"/>
              </a:rPr>
              <a:t>Easy to Implement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Lucida Console" panose="020B0609040504020204" pitchFamily="49" charset="0"/>
              </a:rPr>
              <a:t>Efficient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130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HsLdYIqsD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22179" y="1309538"/>
            <a:ext cx="6952293" cy="52142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326" y="160525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rgbClr val="7CCA62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ea typeface="+mj-ea"/>
                <a:cs typeface="+mj-cs"/>
              </a:rPr>
              <a:t>Battlefield Surveillance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639875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57987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800" dirty="0">
                <a:solidFill>
                  <a:srgbClr val="7CCA62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ea typeface="+mj-ea"/>
                <a:cs typeface="+mj-cs"/>
              </a:rPr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217204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7882" y="321972"/>
            <a:ext cx="111659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Lucida Console" panose="020B0609040504020204" pitchFamily="49" charset="0"/>
              </a:rPr>
              <a:t>Hayajneh</a:t>
            </a:r>
            <a:r>
              <a:rPr lang="en-US" dirty="0">
                <a:latin typeface="Lucida Console" panose="020B0609040504020204" pitchFamily="49" charset="0"/>
              </a:rPr>
              <a:t>, </a:t>
            </a:r>
            <a:r>
              <a:rPr lang="en-US" dirty="0" err="1">
                <a:latin typeface="Lucida Console" panose="020B0609040504020204" pitchFamily="49" charset="0"/>
              </a:rPr>
              <a:t>Thaier</a:t>
            </a:r>
            <a:r>
              <a:rPr lang="en-US" dirty="0">
                <a:latin typeface="Lucida Console" panose="020B0609040504020204" pitchFamily="49" charset="0"/>
              </a:rPr>
              <a:t>, Bassam </a:t>
            </a:r>
            <a:r>
              <a:rPr lang="en-US" dirty="0" err="1">
                <a:latin typeface="Lucida Console" panose="020B0609040504020204" pitchFamily="49" charset="0"/>
              </a:rPr>
              <a:t>Mohd</a:t>
            </a:r>
            <a:r>
              <a:rPr lang="en-US" dirty="0">
                <a:latin typeface="Lucida Console" panose="020B0609040504020204" pitchFamily="49" charset="0"/>
              </a:rPr>
              <a:t>, Muhammad Imran, </a:t>
            </a:r>
            <a:r>
              <a:rPr lang="en-US" dirty="0" err="1">
                <a:latin typeface="Lucida Console" panose="020B0609040504020204" pitchFamily="49" charset="0"/>
              </a:rPr>
              <a:t>Ghada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Almashaqbeh</a:t>
            </a:r>
            <a:r>
              <a:rPr lang="en-US" dirty="0">
                <a:latin typeface="Lucida Console" panose="020B0609040504020204" pitchFamily="49" charset="0"/>
              </a:rPr>
              <a:t>, and Athanasios </a:t>
            </a:r>
            <a:r>
              <a:rPr lang="en-US" dirty="0" err="1">
                <a:latin typeface="Lucida Console" panose="020B0609040504020204" pitchFamily="49" charset="0"/>
              </a:rPr>
              <a:t>Vasilakos</a:t>
            </a:r>
            <a:r>
              <a:rPr lang="en-US" dirty="0">
                <a:latin typeface="Lucida Console" panose="020B0609040504020204" pitchFamily="49" charset="0"/>
              </a:rPr>
              <a:t>. "Secure Authentication for Remote Patient Monitoring with Wireless Medical Sensor Networks." </a:t>
            </a:r>
            <a:r>
              <a:rPr lang="en-US" i="1" dirty="0">
                <a:latin typeface="Lucida Console" panose="020B0609040504020204" pitchFamily="49" charset="0"/>
              </a:rPr>
              <a:t>Sensors</a:t>
            </a:r>
            <a:r>
              <a:rPr lang="en-US" dirty="0">
                <a:latin typeface="Lucida Console" panose="020B0609040504020204" pitchFamily="49" charset="0"/>
              </a:rPr>
              <a:t> 16.4 (2016): 424. Web.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>
                <a:latin typeface="Lucida Console" panose="020B0609040504020204" pitchFamily="49" charset="0"/>
              </a:rPr>
              <a:t>Ramos, Alex, and </a:t>
            </a:r>
            <a:r>
              <a:rPr lang="en-US" dirty="0" err="1">
                <a:latin typeface="Lucida Console" panose="020B0609040504020204" pitchFamily="49" charset="0"/>
              </a:rPr>
              <a:t>Raimir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Filho</a:t>
            </a:r>
            <a:r>
              <a:rPr lang="en-US" dirty="0">
                <a:latin typeface="Lucida Console" panose="020B0609040504020204" pitchFamily="49" charset="0"/>
              </a:rPr>
              <a:t>. "Sensor Data Security Level Estimation Scheme for Wireless Sensor Networks." </a:t>
            </a:r>
            <a:r>
              <a:rPr lang="en-US" i="1" dirty="0">
                <a:latin typeface="Lucida Console" panose="020B0609040504020204" pitchFamily="49" charset="0"/>
              </a:rPr>
              <a:t>Sensors</a:t>
            </a:r>
            <a:r>
              <a:rPr lang="en-US" dirty="0">
                <a:latin typeface="Lucida Console" panose="020B0609040504020204" pitchFamily="49" charset="0"/>
              </a:rPr>
              <a:t> 15.1 (2015): 2104-136. Web.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 err="1">
                <a:latin typeface="Lucida Console" panose="020B0609040504020204" pitchFamily="49" charset="0"/>
              </a:rPr>
              <a:t>Liau</a:t>
            </a:r>
            <a:r>
              <a:rPr lang="en-US" dirty="0">
                <a:latin typeface="Lucida Console" panose="020B0609040504020204" pitchFamily="49" charset="0"/>
              </a:rPr>
              <a:t>, Qian, Chee </a:t>
            </a:r>
            <a:r>
              <a:rPr lang="en-US" dirty="0" err="1">
                <a:latin typeface="Lucida Console" panose="020B0609040504020204" pitchFamily="49" charset="0"/>
              </a:rPr>
              <a:t>Leow</a:t>
            </a:r>
            <a:r>
              <a:rPr lang="en-US" dirty="0">
                <a:latin typeface="Lucida Console" panose="020B0609040504020204" pitchFamily="49" charset="0"/>
              </a:rPr>
              <a:t>, and </a:t>
            </a:r>
            <a:r>
              <a:rPr lang="en-US" dirty="0" err="1">
                <a:latin typeface="Lucida Console" panose="020B0609040504020204" pitchFamily="49" charset="0"/>
              </a:rPr>
              <a:t>Zhiguo</a:t>
            </a:r>
            <a:r>
              <a:rPr lang="en-US" dirty="0">
                <a:latin typeface="Lucida Console" panose="020B0609040504020204" pitchFamily="49" charset="0"/>
              </a:rPr>
              <a:t> Ding. "Physical Layer Security Using Two-Path Successive Relaying." </a:t>
            </a:r>
            <a:r>
              <a:rPr lang="en-US" i="1" dirty="0">
                <a:latin typeface="Lucida Console" panose="020B0609040504020204" pitchFamily="49" charset="0"/>
              </a:rPr>
              <a:t>Sensors</a:t>
            </a:r>
            <a:r>
              <a:rPr lang="en-US" dirty="0">
                <a:latin typeface="Lucida Console" panose="020B0609040504020204" pitchFamily="49" charset="0"/>
              </a:rPr>
              <a:t> 16.6 (2016): 846. Web.</a:t>
            </a:r>
          </a:p>
        </p:txBody>
      </p:sp>
    </p:spTree>
    <p:extLst>
      <p:ext uri="{BB962C8B-B14F-4D97-AF65-F5344CB8AC3E}">
        <p14:creationId xmlns:p14="http://schemas.microsoft.com/office/powerpoint/2010/main" val="102657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</TotalTime>
  <Words>155</Words>
  <Application>Microsoft Office PowerPoint</Application>
  <PresentationFormat>Widescreen</PresentationFormat>
  <Paragraphs>71</Paragraphs>
  <Slides>21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Lucida Console</vt:lpstr>
      <vt:lpstr>Office Theme</vt:lpstr>
      <vt:lpstr>Wireless Sensor Networks</vt:lpstr>
      <vt:lpstr>What are they?</vt:lpstr>
      <vt:lpstr>What are they?</vt:lpstr>
      <vt:lpstr>Properties</vt:lpstr>
      <vt:lpstr>PowerPoint Presentation</vt:lpstr>
      <vt:lpstr>PowerPoint Presentation</vt:lpstr>
      <vt:lpstr>PowerPoint Presentation</vt:lpstr>
      <vt:lpstr>PowerPoint Presentation</vt:lpstr>
      <vt:lpstr>Other Attacks</vt:lpstr>
      <vt:lpstr>Other Attacks</vt:lpstr>
      <vt:lpstr>Solutions?</vt:lpstr>
      <vt:lpstr>Directional Antennas</vt:lpstr>
      <vt:lpstr>Data Integrity</vt:lpstr>
      <vt:lpstr>Data Integrity</vt:lpstr>
      <vt:lpstr>Location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Scott</dc:creator>
  <cp:lastModifiedBy>Trent Scott</cp:lastModifiedBy>
  <cp:revision>34</cp:revision>
  <dcterms:created xsi:type="dcterms:W3CDTF">2014-08-26T23:43:54Z</dcterms:created>
  <dcterms:modified xsi:type="dcterms:W3CDTF">2016-12-06T18:18:23Z</dcterms:modified>
</cp:coreProperties>
</file>