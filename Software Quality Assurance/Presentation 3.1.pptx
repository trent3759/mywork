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1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4" name="Shape 6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0" name="Shape 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 name="Shape 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2" name="Shape 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8" name="Shape 8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 name="Shape 9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 name="Shape 10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6" name="Shape 10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2" name="Shape 11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4" name="Shape 12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0" name="Shape 13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Shape 1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6" name="Shape 13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Shape 1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2" name="Shape 14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8" name="Shape 14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marL="457200" lvl="0" indent="-292100" rtl="0">
              <a:lnSpc>
                <a:spcPct val="115000"/>
              </a:lnSpc>
              <a:spcBef>
                <a:spcPts val="0"/>
              </a:spcBef>
              <a:spcAft>
                <a:spcPts val="1600"/>
              </a:spcAft>
              <a:buClr>
                <a:schemeClr val="dk2"/>
              </a:buClr>
              <a:buSzPct val="100000"/>
              <a:buChar char="●"/>
            </a:pPr>
            <a:r>
              <a:rPr lang="en" sz="1000">
                <a:solidFill>
                  <a:schemeClr val="dk2"/>
                </a:solidFill>
              </a:rPr>
              <a:t>RQ1:What gamified software quality characteristics have been addressed?</a:t>
            </a:r>
            <a:br>
              <a:rPr lang="en" sz="1000">
                <a:solidFill>
                  <a:schemeClr val="dk2"/>
                </a:solidFill>
              </a:rPr>
            </a:br>
            <a:r>
              <a:rPr lang="en" sz="1000">
                <a:solidFill>
                  <a:schemeClr val="dk2"/>
                </a:solidFill>
              </a:rPr>
              <a:t>	Quality of Use-(32 papers, 91.43%) (table 3)</a:t>
            </a:r>
            <a:br>
              <a:rPr lang="en" sz="1000">
                <a:solidFill>
                  <a:schemeClr val="dk2"/>
                </a:solidFill>
              </a:rPr>
            </a:br>
            <a:r>
              <a:rPr lang="en" sz="1000">
                <a:solidFill>
                  <a:schemeClr val="dk2"/>
                </a:solidFill>
              </a:rPr>
              <a:t>		effectiveness (30 papers, 85.71%).</a:t>
            </a:r>
            <a:br>
              <a:rPr lang="en" sz="1000">
                <a:solidFill>
                  <a:schemeClr val="dk2"/>
                </a:solidFill>
              </a:rPr>
            </a:br>
            <a:r>
              <a:rPr lang="en" sz="1000">
                <a:solidFill>
                  <a:schemeClr val="dk2"/>
                </a:solidFill>
              </a:rPr>
              <a:t>		satisfaction-pleasure (18 papers, 51.43%) </a:t>
            </a:r>
            <a:br>
              <a:rPr lang="en" sz="1000">
                <a:solidFill>
                  <a:schemeClr val="dk2"/>
                </a:solidFill>
              </a:rPr>
            </a:br>
            <a:r>
              <a:rPr lang="en" sz="1000">
                <a:solidFill>
                  <a:schemeClr val="dk2"/>
                </a:solidFill>
              </a:rPr>
              <a:t>		satisfaction-usefulness(8 papers, 22.86%)</a:t>
            </a:r>
            <a:br>
              <a:rPr lang="en" sz="1000">
                <a:solidFill>
                  <a:schemeClr val="dk2"/>
                </a:solidFill>
              </a:rPr>
            </a:br>
            <a:r>
              <a:rPr lang="en" sz="1000">
                <a:solidFill>
                  <a:schemeClr val="dk2"/>
                </a:solidFill>
              </a:rPr>
              <a:t>	Why use of gamification(30 papers-85%) (no table)</a:t>
            </a:r>
            <a:br>
              <a:rPr lang="en" sz="1000">
                <a:solidFill>
                  <a:schemeClr val="dk2"/>
                </a:solidFill>
              </a:rPr>
            </a:br>
            <a:r>
              <a:rPr lang="en" sz="1000">
                <a:solidFill>
                  <a:schemeClr val="dk2"/>
                </a:solidFill>
              </a:rPr>
              <a:t>		user engagement (12 papers, 34.29%</a:t>
            </a:r>
            <a:br>
              <a:rPr lang="en" sz="1000">
                <a:solidFill>
                  <a:schemeClr val="dk2"/>
                </a:solidFill>
              </a:rPr>
            </a:br>
            <a:r>
              <a:rPr lang="en" sz="1000">
                <a:solidFill>
                  <a:schemeClr val="dk2"/>
                </a:solidFill>
              </a:rPr>
              <a:t>		engagement/motivation (9 papers, 25.71%</a:t>
            </a:r>
            <a:br>
              <a:rPr lang="en" sz="1000">
                <a:solidFill>
                  <a:schemeClr val="dk2"/>
                </a:solidFill>
              </a:rPr>
            </a:br>
            <a:r>
              <a:rPr lang="en" sz="1000">
                <a:solidFill>
                  <a:schemeClr val="dk2"/>
                </a:solidFill>
              </a:rPr>
              <a:t>		motivation (9 papers, 25.71%)</a:t>
            </a:r>
            <a:br>
              <a:rPr lang="en" sz="1000">
                <a:solidFill>
                  <a:schemeClr val="dk2"/>
                </a:solidFill>
              </a:rPr>
            </a:br>
            <a:r>
              <a:rPr lang="en" sz="1000">
                <a:solidFill>
                  <a:schemeClr val="dk2"/>
                </a:solidFill>
              </a:rPr>
              <a:t>		None (5 papers,14%)</a:t>
            </a:r>
            <a:br>
              <a:rPr lang="en" sz="1000">
                <a:solidFill>
                  <a:schemeClr val="dk2"/>
                </a:solidFill>
              </a:rPr>
            </a:br>
            <a:r>
              <a:rPr lang="en" sz="1000">
                <a:solidFill>
                  <a:schemeClr val="dk2"/>
                </a:solidFill>
              </a:rPr>
              <a:t>	Characteristics of the product quality-11 papers (31.43%) (table 4)</a:t>
            </a:r>
            <a:br>
              <a:rPr lang="en" sz="1000">
                <a:solidFill>
                  <a:schemeClr val="dk2"/>
                </a:solidFill>
              </a:rPr>
            </a:br>
            <a:r>
              <a:rPr lang="en" sz="1000">
                <a:solidFill>
                  <a:schemeClr val="dk2"/>
                </a:solidFill>
              </a:rPr>
              <a:t>		Suitability-appropriateness (3 papers, %)</a:t>
            </a:r>
            <a:br>
              <a:rPr lang="en" sz="1000">
                <a:solidFill>
                  <a:schemeClr val="dk2"/>
                </a:solidFill>
              </a:rPr>
            </a:br>
            <a:r>
              <a:rPr lang="en" sz="1000">
                <a:solidFill>
                  <a:schemeClr val="dk2"/>
                </a:solidFill>
              </a:rPr>
              <a:t>		UserInterface-Aesthetics (1 paper,2.8%)</a:t>
            </a:r>
            <a:br>
              <a:rPr lang="en" sz="1000">
                <a:solidFill>
                  <a:schemeClr val="dk2"/>
                </a:solidFill>
              </a:rPr>
            </a:br>
            <a:r>
              <a:rPr lang="en" sz="1000">
                <a:solidFill>
                  <a:schemeClr val="dk2"/>
                </a:solidFill>
              </a:rPr>
              <a:t>		operability (7 papers, 20%)</a:t>
            </a:r>
            <a:br>
              <a:rPr lang="en" sz="1000">
                <a:solidFill>
                  <a:schemeClr val="dk2"/>
                </a:solidFill>
              </a:rPr>
            </a:br>
            <a:r>
              <a:rPr lang="en" sz="1000">
                <a:solidFill>
                  <a:schemeClr val="dk2"/>
                </a:solidFill>
              </a:rPr>
              <a:t>		Learnability (1 paper, 2.8%)</a:t>
            </a:r>
            <a:br>
              <a:rPr lang="en" sz="1000">
                <a:solidFill>
                  <a:schemeClr val="dk2"/>
                </a:solidFill>
              </a:rPr>
            </a:br>
            <a:r>
              <a:rPr lang="en" sz="1000">
                <a:solidFill>
                  <a:schemeClr val="dk2"/>
                </a:solidFill>
              </a:rPr>
              <a:t>	</a:t>
            </a:r>
          </a:p>
          <a:p>
            <a:pPr marL="457200" lvl="0" indent="-292100" rtl="0">
              <a:lnSpc>
                <a:spcPct val="115000"/>
              </a:lnSpc>
              <a:spcBef>
                <a:spcPts val="0"/>
              </a:spcBef>
              <a:spcAft>
                <a:spcPts val="1600"/>
              </a:spcAft>
              <a:buClr>
                <a:schemeClr val="dk2"/>
              </a:buClr>
              <a:buSzPct val="100000"/>
              <a:buChar char="●"/>
            </a:pPr>
            <a:r>
              <a:rPr lang="en" sz="1000">
                <a:solidFill>
                  <a:schemeClr val="dk2"/>
                </a:solidFill>
              </a:rPr>
              <a:t>RQ2:. What research methods have been used when investigating gamified software quality?</a:t>
            </a:r>
            <a:br>
              <a:rPr lang="en" sz="1000">
                <a:solidFill>
                  <a:schemeClr val="dk2"/>
                </a:solidFill>
              </a:rPr>
            </a:br>
            <a:r>
              <a:rPr lang="en" sz="1000">
                <a:solidFill>
                  <a:schemeClr val="dk2"/>
                </a:solidFill>
              </a:rPr>
              <a:t>	-Research Method</a:t>
            </a:r>
            <a:br>
              <a:rPr lang="en" sz="1000">
                <a:solidFill>
                  <a:schemeClr val="dk2"/>
                </a:solidFill>
              </a:rPr>
            </a:br>
            <a:r>
              <a:rPr lang="en" sz="1000">
                <a:solidFill>
                  <a:schemeClr val="dk2"/>
                </a:solidFill>
              </a:rPr>
              <a:t>		Quasi-experimental(18, 51%)</a:t>
            </a:r>
            <a:br>
              <a:rPr lang="en" sz="1000">
                <a:solidFill>
                  <a:schemeClr val="dk2"/>
                </a:solidFill>
              </a:rPr>
            </a:br>
            <a:r>
              <a:rPr lang="en" sz="1000">
                <a:solidFill>
                  <a:schemeClr val="dk2"/>
                </a:solidFill>
              </a:rPr>
              <a:t>		Experimental (10, 29%)</a:t>
            </a:r>
            <a:br>
              <a:rPr lang="en" sz="1000">
                <a:solidFill>
                  <a:schemeClr val="dk2"/>
                </a:solidFill>
              </a:rPr>
            </a:br>
            <a:r>
              <a:rPr lang="en" sz="1000">
                <a:solidFill>
                  <a:schemeClr val="dk2"/>
                </a:solidFill>
              </a:rPr>
              <a:t>		Theoretical (3, 8.5%)</a:t>
            </a:r>
            <a:br>
              <a:rPr lang="en" sz="1000">
                <a:solidFill>
                  <a:schemeClr val="dk2"/>
                </a:solidFill>
              </a:rPr>
            </a:br>
            <a:r>
              <a:rPr lang="en" sz="1000">
                <a:solidFill>
                  <a:schemeClr val="dk2"/>
                </a:solidFill>
              </a:rPr>
              <a:t>		Case Study(4, 11%)</a:t>
            </a:r>
            <a:br>
              <a:rPr lang="en" sz="1000">
                <a:solidFill>
                  <a:schemeClr val="dk2"/>
                </a:solidFill>
              </a:rPr>
            </a:br>
            <a:r>
              <a:rPr lang="en" sz="1000">
                <a:solidFill>
                  <a:schemeClr val="dk2"/>
                </a:solidFill>
              </a:rPr>
              <a:t>	-Experiment -Engagement measurement</a:t>
            </a:r>
            <a:br>
              <a:rPr lang="en" sz="1000">
                <a:solidFill>
                  <a:schemeClr val="dk2"/>
                </a:solidFill>
              </a:rPr>
            </a:br>
            <a:r>
              <a:rPr lang="en" sz="1000">
                <a:solidFill>
                  <a:schemeClr val="dk2"/>
                </a:solidFill>
              </a:rPr>
              <a:t>		Participation (9, 25.5%)</a:t>
            </a:r>
            <a:br>
              <a:rPr lang="en" sz="1000">
                <a:solidFill>
                  <a:schemeClr val="dk2"/>
                </a:solidFill>
              </a:rPr>
            </a:br>
            <a:r>
              <a:rPr lang="en" sz="1000">
                <a:solidFill>
                  <a:schemeClr val="dk2"/>
                </a:solidFill>
              </a:rPr>
              <a:t>		Performance(26, 74%)</a:t>
            </a:r>
            <a:br>
              <a:rPr lang="en" sz="1000">
                <a:solidFill>
                  <a:schemeClr val="dk2"/>
                </a:solidFill>
              </a:rPr>
            </a:br>
            <a:r>
              <a:rPr lang="en" sz="1000">
                <a:solidFill>
                  <a:schemeClr val="dk2"/>
                </a:solidFill>
              </a:rPr>
              <a:t>		Communication(6,17%)</a:t>
            </a:r>
            <a:br>
              <a:rPr lang="en" sz="1000">
                <a:solidFill>
                  <a:schemeClr val="dk2"/>
                </a:solidFill>
              </a:rPr>
            </a:br>
            <a:r>
              <a:rPr lang="en" sz="1000">
                <a:solidFill>
                  <a:schemeClr val="dk2"/>
                </a:solidFill>
              </a:rPr>
              <a:t>		Frequency of achievements(4,11%)</a:t>
            </a:r>
            <a:br>
              <a:rPr lang="en" sz="1000">
                <a:solidFill>
                  <a:schemeClr val="dk2"/>
                </a:solidFill>
              </a:rPr>
            </a:br>
            <a:endParaRPr lang="en" sz="1000">
              <a:solidFill>
                <a:schemeClr val="dk2"/>
              </a:solidFill>
            </a:endParaRPr>
          </a:p>
          <a:p>
            <a:pPr marL="457200" lvl="0" indent="-292100" rtl="0">
              <a:lnSpc>
                <a:spcPct val="115000"/>
              </a:lnSpc>
              <a:spcBef>
                <a:spcPts val="0"/>
              </a:spcBef>
              <a:spcAft>
                <a:spcPts val="1600"/>
              </a:spcAft>
              <a:buClr>
                <a:schemeClr val="dk2"/>
              </a:buClr>
              <a:buSzPct val="100000"/>
              <a:buChar char="●"/>
            </a:pPr>
            <a:r>
              <a:rPr lang="en" sz="1000" b="1">
                <a:solidFill>
                  <a:schemeClr val="dk2"/>
                </a:solidFill>
              </a:rPr>
              <a:t>RQ3 What has the outcome of the research been?</a:t>
            </a:r>
            <a:br>
              <a:rPr lang="en" sz="1000" b="1">
                <a:solidFill>
                  <a:schemeClr val="dk2"/>
                </a:solidFill>
              </a:rPr>
            </a:br>
            <a:r>
              <a:rPr lang="en" sz="1000" b="1">
                <a:solidFill>
                  <a:schemeClr val="dk2"/>
                </a:solidFill>
              </a:rPr>
              <a:t>		</a:t>
            </a:r>
            <a:r>
              <a:rPr lang="en" sz="1000">
                <a:solidFill>
                  <a:schemeClr val="dk2"/>
                </a:solidFill>
              </a:rPr>
              <a:t>“knowledge” (30 paper, 85%)</a:t>
            </a:r>
            <a:br>
              <a:rPr lang="en" sz="1000">
                <a:solidFill>
                  <a:schemeClr val="dk2"/>
                </a:solidFill>
              </a:rPr>
            </a:br>
            <a:r>
              <a:rPr lang="en" sz="1000">
                <a:solidFill>
                  <a:schemeClr val="dk2"/>
                </a:solidFill>
              </a:rPr>
              <a:t>		Framework (5, 14%)</a:t>
            </a:r>
          </a:p>
          <a:p>
            <a:pPr marL="457200" lvl="0" indent="-292100">
              <a:lnSpc>
                <a:spcPct val="115000"/>
              </a:lnSpc>
              <a:spcBef>
                <a:spcPts val="0"/>
              </a:spcBef>
              <a:spcAft>
                <a:spcPts val="1600"/>
              </a:spcAft>
              <a:buClr>
                <a:schemeClr val="dk2"/>
              </a:buClr>
              <a:buSzPct val="100000"/>
              <a:buChar char="●"/>
            </a:pPr>
            <a:r>
              <a:rPr lang="en" sz="1000" b="1">
                <a:solidFill>
                  <a:schemeClr val="dk2"/>
                </a:solidFill>
              </a:rPr>
              <a:t>RQ4: On which software artifacts from gamified software has the research on quality been focused</a:t>
            </a:r>
            <a:br>
              <a:rPr lang="en" sz="1000" b="1">
                <a:solidFill>
                  <a:schemeClr val="dk2"/>
                </a:solidFill>
              </a:rPr>
            </a:br>
            <a:r>
              <a:rPr lang="en" sz="1000" b="1">
                <a:solidFill>
                  <a:schemeClr val="dk2"/>
                </a:solidFill>
              </a:rPr>
              <a:t>		After development (32, 91.43%).</a:t>
            </a:r>
            <a:br>
              <a:rPr lang="en" sz="1000" b="1">
                <a:solidFill>
                  <a:schemeClr val="dk2"/>
                </a:solidFill>
              </a:rPr>
            </a:br>
            <a:r>
              <a:rPr lang="en" sz="1000" b="1">
                <a:solidFill>
                  <a:schemeClr val="dk2"/>
                </a:solidFill>
              </a:rPr>
              <a:t>		Design stage. (Only (2 5.71%)</a:t>
            </a:r>
          </a:p>
          <a:p>
            <a:pPr marL="457200" lvl="0" indent="-292100" rtl="0">
              <a:lnSpc>
                <a:spcPct val="115000"/>
              </a:lnSpc>
              <a:spcBef>
                <a:spcPts val="0"/>
              </a:spcBef>
              <a:spcAft>
                <a:spcPts val="1600"/>
              </a:spcAft>
              <a:buClr>
                <a:schemeClr val="dk2"/>
              </a:buClr>
              <a:buSzPct val="100000"/>
              <a:buChar char="●"/>
            </a:pPr>
            <a:r>
              <a:rPr lang="en" sz="1000" b="1">
                <a:solidFill>
                  <a:schemeClr val="dk2"/>
                </a:solidFill>
              </a:rPr>
              <a:t>RQ5:What gamification elements have been used in gamified software</a:t>
            </a:r>
            <a:br>
              <a:rPr lang="en" sz="1000" b="1">
                <a:solidFill>
                  <a:schemeClr val="dk2"/>
                </a:solidFill>
              </a:rPr>
            </a:br>
            <a:r>
              <a:rPr lang="en" sz="1000" b="1">
                <a:solidFill>
                  <a:schemeClr val="dk2"/>
                </a:solidFill>
              </a:rPr>
              <a:t>		points and badges (23 papers each, 65.71%)</a:t>
            </a:r>
            <a:br>
              <a:rPr lang="en" sz="1000" b="1">
                <a:solidFill>
                  <a:schemeClr val="dk2"/>
                </a:solidFill>
              </a:rPr>
            </a:br>
            <a:r>
              <a:rPr lang="en" sz="1000" b="1">
                <a:solidFill>
                  <a:schemeClr val="dk2"/>
                </a:solidFill>
              </a:rPr>
              <a:t>			COMBO of points and badges (16 papers; 45.71%)</a:t>
            </a:r>
            <a:br>
              <a:rPr lang="en" sz="1000" b="1">
                <a:solidFill>
                  <a:schemeClr val="dk2"/>
                </a:solidFill>
              </a:rPr>
            </a:br>
            <a:r>
              <a:rPr lang="en" sz="1000" b="1">
                <a:solidFill>
                  <a:schemeClr val="dk2"/>
                </a:solidFill>
              </a:rPr>
              <a:t>		leaderboards (18, 51.43%)</a:t>
            </a:r>
            <a:br>
              <a:rPr lang="en" sz="1000" b="1">
                <a:solidFill>
                  <a:schemeClr val="dk2"/>
                </a:solidFill>
              </a:rPr>
            </a:br>
            <a:r>
              <a:rPr lang="en" sz="1000" b="1">
                <a:solidFill>
                  <a:schemeClr val="dk2"/>
                </a:solidFill>
              </a:rPr>
              <a:t>		levels (14, 27.45%), </a:t>
            </a:r>
            <a:br>
              <a:rPr lang="en" sz="1000" b="1">
                <a:solidFill>
                  <a:schemeClr val="dk2"/>
                </a:solidFill>
              </a:rPr>
            </a:br>
            <a:r>
              <a:rPr lang="en" sz="1000" b="1">
                <a:solidFill>
                  <a:schemeClr val="dk2"/>
                </a:solidFill>
              </a:rPr>
              <a:t>		rewards (6 papers, 17.14%)</a:t>
            </a:r>
            <a:br>
              <a:rPr lang="en" sz="1000" b="1">
                <a:solidFill>
                  <a:schemeClr val="dk2"/>
                </a:solidFill>
              </a:rPr>
            </a:br>
            <a:r>
              <a:rPr lang="en" sz="1000" b="1">
                <a:solidFill>
                  <a:schemeClr val="dk2"/>
                </a:solidFill>
              </a:rPr>
              <a:t>		 unlocking (2 papers, 5.71%)</a:t>
            </a:r>
          </a:p>
          <a:p>
            <a:pPr marL="457200" lvl="0" indent="-292100" rtl="0">
              <a:lnSpc>
                <a:spcPct val="115000"/>
              </a:lnSpc>
              <a:spcBef>
                <a:spcPts val="0"/>
              </a:spcBef>
              <a:spcAft>
                <a:spcPts val="1600"/>
              </a:spcAft>
              <a:buClr>
                <a:schemeClr val="dk2"/>
              </a:buClr>
              <a:buSzPct val="100000"/>
              <a:buChar char="●"/>
            </a:pPr>
            <a:r>
              <a:rPr lang="en" sz="1000" b="1">
                <a:solidFill>
                  <a:schemeClr val="dk2"/>
                </a:solidFill>
              </a:rPr>
              <a:t>RQ6  What have the application areas of gamification been?</a:t>
            </a:r>
            <a:br>
              <a:rPr lang="en" sz="1000" b="1">
                <a:solidFill>
                  <a:schemeClr val="dk2"/>
                </a:solidFill>
              </a:rPr>
            </a:br>
            <a:r>
              <a:rPr lang="en" sz="1000" b="1">
                <a:solidFill>
                  <a:schemeClr val="dk2"/>
                </a:solidFill>
              </a:rPr>
              <a:t>		 “Education” (13 papers, 37,14%)</a:t>
            </a:r>
            <a:br>
              <a:rPr lang="en" sz="1000" b="1">
                <a:solidFill>
                  <a:schemeClr val="dk2"/>
                </a:solidFill>
              </a:rPr>
            </a:br>
            <a:r>
              <a:rPr lang="en" sz="1000" b="1">
                <a:solidFill>
                  <a:schemeClr val="dk2"/>
                </a:solidFill>
              </a:rPr>
              <a:t>		“social networks, business, enterprises, banking, etc” (7, 20%</a:t>
            </a:r>
            <a:br>
              <a:rPr lang="en" sz="1000" b="1">
                <a:solidFill>
                  <a:schemeClr val="dk2"/>
                </a:solidFill>
              </a:rPr>
            </a:br>
            <a:r>
              <a:rPr lang="en" sz="1000" b="1">
                <a:solidFill>
                  <a:schemeClr val="dk2"/>
                </a:solidFill>
              </a:rPr>
              <a:t>		“Work” (4 papers, 11%)</a:t>
            </a:r>
            <a:br>
              <a:rPr lang="en" sz="1000" b="1">
                <a:solidFill>
                  <a:schemeClr val="dk2"/>
                </a:solidFill>
              </a:rPr>
            </a:br>
            <a:r>
              <a:rPr lang="en" sz="1000" b="1">
                <a:solidFill>
                  <a:schemeClr val="dk2"/>
                </a:solidFill>
              </a:rPr>
              <a:t>		“Environment” (3 papers, 8.5%)</a:t>
            </a:r>
            <a:br>
              <a:rPr lang="en" sz="1000" b="1">
                <a:solidFill>
                  <a:schemeClr val="dk2"/>
                </a:solidFill>
              </a:rPr>
            </a:br>
            <a:r>
              <a:rPr lang="en" sz="1000" b="1">
                <a:solidFill>
                  <a:schemeClr val="dk2"/>
                </a:solidFill>
              </a:rPr>
              <a:t>		Enterprise Social Network (2 papers, 5.71%)</a:t>
            </a:r>
            <a:br>
              <a:rPr lang="en" sz="1000" b="1">
                <a:solidFill>
                  <a:schemeClr val="dk2"/>
                </a:solidFill>
              </a:rPr>
            </a:br>
            <a:r>
              <a:rPr lang="en" sz="1000" b="1">
                <a:solidFill>
                  <a:schemeClr val="dk2"/>
                </a:solidFill>
              </a:rPr>
              <a:t>		 Software engineering (2 papers, 5.71%)</a:t>
            </a:r>
          </a:p>
          <a:p>
            <a:pPr lvl="0" rtl="0">
              <a:lnSpc>
                <a:spcPct val="115000"/>
              </a:lnSpc>
              <a:spcBef>
                <a:spcPts val="0"/>
              </a:spcBef>
              <a:spcAft>
                <a:spcPts val="1600"/>
              </a:spcAft>
              <a:buNone/>
            </a:pPr>
            <a:endParaRPr sz="1000" b="1">
              <a:solidFill>
                <a:schemeClr val="dk2"/>
              </a:solidFill>
            </a:endParaRPr>
          </a:p>
          <a:p>
            <a:pPr lvl="0" rtl="0">
              <a:lnSpc>
                <a:spcPct val="115000"/>
              </a:lnSpc>
              <a:spcBef>
                <a:spcPts val="0"/>
              </a:spcBef>
              <a:spcAft>
                <a:spcPts val="1600"/>
              </a:spcAft>
              <a:buNone/>
            </a:pPr>
            <a:endParaRPr sz="1000" b="1">
              <a:solidFill>
                <a:schemeClr val="dk2"/>
              </a:solidFill>
            </a:endParaRPr>
          </a:p>
          <a:p>
            <a:pPr lvl="0" rtl="0">
              <a:lnSpc>
                <a:spcPct val="115000"/>
              </a:lnSpc>
              <a:spcBef>
                <a:spcPts val="0"/>
              </a:spcBef>
              <a:spcAft>
                <a:spcPts val="1600"/>
              </a:spcAft>
              <a:buNone/>
            </a:pPr>
            <a:endParaRPr sz="1000" b="1">
              <a:solidFill>
                <a:schemeClr val="dk2"/>
              </a:solidFill>
            </a:endParaRPr>
          </a:p>
          <a:p>
            <a:pPr lvl="0">
              <a:lnSpc>
                <a:spcPct val="115000"/>
              </a:lnSpc>
              <a:spcBef>
                <a:spcPts val="0"/>
              </a:spcBef>
              <a:spcAft>
                <a:spcPts val="1600"/>
              </a:spcAft>
              <a:buNone/>
            </a:pPr>
            <a:endParaRPr sz="1000" b="1">
              <a:solidFill>
                <a:schemeClr val="dk2"/>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0" name="Shape 16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Shape 16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6" name="Shape 16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2" name="Shape 17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8" name="Shape 17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Shape 1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4" name="Shape 18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2" name="Shape 1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5" name="Shape 1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4" name="Shape 2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7" name="Shape 37"/>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3" name="Shape 43"/>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47" name="Shape 47"/>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2"/>
                </a:solidFill>
              </a:rPr>
              <a:t>‹#›</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ieeexplore.ieee.org/stamp/stamp.jsp?tp=&amp;arnumber=7733404&amp;isnumber=7733200"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8" y="744575"/>
            <a:ext cx="8520600" cy="2052600"/>
          </a:xfrm>
          <a:prstGeom prst="rect">
            <a:avLst/>
          </a:prstGeom>
        </p:spPr>
        <p:txBody>
          <a:bodyPr lIns="91425" tIns="91425" rIns="91425" bIns="91425" anchor="b" anchorCtr="0">
            <a:noAutofit/>
          </a:bodyPr>
          <a:lstStyle/>
          <a:p>
            <a:pPr lvl="0" rtl="0">
              <a:spcBef>
                <a:spcPts val="0"/>
              </a:spcBef>
              <a:buClr>
                <a:schemeClr val="dk1"/>
              </a:buClr>
              <a:buSzPct val="25000"/>
              <a:buFont typeface="Arial"/>
              <a:buNone/>
            </a:pPr>
            <a:r>
              <a:rPr lang="en" sz="6000">
                <a:solidFill>
                  <a:schemeClr val="dk2"/>
                </a:solidFill>
              </a:rPr>
              <a:t>Gamification</a:t>
            </a:r>
          </a:p>
        </p:txBody>
      </p:sp>
      <p:sp>
        <p:nvSpPr>
          <p:cNvPr id="55" name="Shape 55"/>
          <p:cNvSpPr txBox="1">
            <a:spLocks noGrp="1"/>
          </p:cNvSpPr>
          <p:nvPr>
            <p:ph type="subTitle" idx="1"/>
          </p:nvPr>
        </p:nvSpPr>
        <p:spPr>
          <a:xfrm>
            <a:off x="311700" y="2834125"/>
            <a:ext cx="8520600" cy="792600"/>
          </a:xfrm>
          <a:prstGeom prst="rect">
            <a:avLst/>
          </a:prstGeom>
        </p:spPr>
        <p:txBody>
          <a:bodyPr lIns="91425" tIns="91425" rIns="91425" bIns="91425" anchor="t" anchorCtr="0">
            <a:noAutofit/>
          </a:bodyPr>
          <a:lstStyle/>
          <a:p>
            <a:pPr lvl="0" rtl="0">
              <a:spcBef>
                <a:spcPts val="0"/>
              </a:spcBef>
              <a:buNone/>
            </a:pPr>
            <a:r>
              <a:rPr lang="en" sz="1800"/>
              <a:t>By: William Cotten, Samuel Faulkner, and Trenton Scott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340825"/>
            <a:ext cx="8520600" cy="572700"/>
          </a:xfrm>
          <a:prstGeom prst="rect">
            <a:avLst/>
          </a:prstGeom>
        </p:spPr>
        <p:txBody>
          <a:bodyPr lIns="91425" tIns="91425" rIns="91425" bIns="91425" anchor="t" anchorCtr="0">
            <a:noAutofit/>
          </a:bodyPr>
          <a:lstStyle/>
          <a:p>
            <a:pPr lvl="0" algn="ctr" rtl="0">
              <a:spcBef>
                <a:spcPts val="0"/>
              </a:spcBef>
              <a:buNone/>
            </a:pPr>
            <a:r>
              <a:rPr lang="en"/>
              <a:t>Gamification and Non-Game Contexts</a:t>
            </a:r>
          </a:p>
        </p:txBody>
      </p:sp>
      <p:sp>
        <p:nvSpPr>
          <p:cNvPr id="61" name="Shape 61"/>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rtl="0">
              <a:spcBef>
                <a:spcPts val="0"/>
              </a:spcBef>
              <a:buNone/>
            </a:pPr>
            <a:r>
              <a:rPr lang="en"/>
              <a:t> </a:t>
            </a:r>
            <a:r>
              <a:rPr lang="en" b="1" u="sng"/>
              <a:t>Gamification:</a:t>
            </a:r>
            <a:r>
              <a:rPr lang="en"/>
              <a:t> The use of game design elements in non-game contexts</a:t>
            </a:r>
          </a:p>
          <a:p>
            <a:pPr lvl="0" rtl="0">
              <a:spcBef>
                <a:spcPts val="0"/>
              </a:spcBef>
              <a:buNone/>
            </a:pPr>
            <a:r>
              <a:rPr lang="en"/>
              <a:t>Examples of non-game contexts:</a:t>
            </a:r>
          </a:p>
          <a:p>
            <a:pPr marL="457200" lvl="0" indent="-228600" rtl="0">
              <a:spcBef>
                <a:spcPts val="0"/>
              </a:spcBef>
              <a:buChar char="●"/>
            </a:pPr>
            <a:r>
              <a:rPr lang="en"/>
              <a:t>Crowdsourcing, social networks, loyalty programs, marketing, education, etc.</a:t>
            </a:r>
          </a:p>
          <a:p>
            <a:pPr marL="914400" lvl="1" indent="-228600" rtl="0">
              <a:spcBef>
                <a:spcPts val="0"/>
              </a:spcBef>
              <a:buChar char="○"/>
            </a:pPr>
            <a:r>
              <a:rPr lang="en"/>
              <a:t>Education - Duolingo application</a:t>
            </a:r>
          </a:p>
          <a:p>
            <a:pPr marL="914400" lvl="1" indent="-228600" rtl="0">
              <a:spcBef>
                <a:spcPts val="0"/>
              </a:spcBef>
              <a:buChar char="○"/>
            </a:pPr>
            <a:r>
              <a:rPr lang="en"/>
              <a:t>Loyalty Programs - Cell phone providers</a:t>
            </a:r>
          </a:p>
          <a:p>
            <a:pPr marL="914400" lvl="1" indent="-228600" rtl="0">
              <a:spcBef>
                <a:spcPts val="0"/>
              </a:spcBef>
              <a:buChar char="○"/>
            </a:pPr>
            <a:r>
              <a:rPr lang="en"/>
              <a:t>Marketing/Crowdsourcing - U.S. Army simulation game</a:t>
            </a:r>
          </a:p>
          <a:p>
            <a:pPr lvl="0" rtl="0">
              <a:spcBef>
                <a:spcPts val="0"/>
              </a:spcBef>
              <a:buNone/>
            </a:pPr>
            <a:endParaRPr/>
          </a:p>
          <a:p>
            <a:pPr lvl="0" rtl="0">
              <a:spcBef>
                <a:spcPts val="0"/>
              </a:spcBef>
              <a:buNone/>
            </a:pPr>
            <a:endParaRPr/>
          </a:p>
          <a:p>
            <a:pPr lvl="0" rtl="0">
              <a:spcBef>
                <a:spcPts val="0"/>
              </a:spcBef>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 calcmode="lin" valueType="num">
                                      <p:cBhvr additive="base">
                                        <p:cTn id="7" dur="1000"/>
                                        <p:tgtEl>
                                          <p:spTgt spid="6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1">
                                            <p:txEl>
                                              <p:pRg st="1" end="1"/>
                                            </p:txEl>
                                          </p:spTgt>
                                        </p:tgtEl>
                                        <p:attrNameLst>
                                          <p:attrName>style.visibility</p:attrName>
                                        </p:attrNameLst>
                                      </p:cBhvr>
                                      <p:to>
                                        <p:strVal val="visible"/>
                                      </p:to>
                                    </p:set>
                                    <p:anim calcmode="lin" valueType="num">
                                      <p:cBhvr additive="base">
                                        <p:cTn id="12" dur="1000"/>
                                        <p:tgtEl>
                                          <p:spTgt spid="6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1">
                                            <p:txEl>
                                              <p:pRg st="2" end="2"/>
                                            </p:txEl>
                                          </p:spTgt>
                                        </p:tgtEl>
                                        <p:attrNameLst>
                                          <p:attrName>style.visibility</p:attrName>
                                        </p:attrNameLst>
                                      </p:cBhvr>
                                      <p:to>
                                        <p:strVal val="visible"/>
                                      </p:to>
                                    </p:set>
                                    <p:anim calcmode="lin" valueType="num">
                                      <p:cBhvr additive="base">
                                        <p:cTn id="17" dur="1000"/>
                                        <p:tgtEl>
                                          <p:spTgt spid="6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1">
                                            <p:txEl>
                                              <p:pRg st="3" end="3"/>
                                            </p:txEl>
                                          </p:spTgt>
                                        </p:tgtEl>
                                        <p:attrNameLst>
                                          <p:attrName>style.visibility</p:attrName>
                                        </p:attrNameLst>
                                      </p:cBhvr>
                                      <p:to>
                                        <p:strVal val="visible"/>
                                      </p:to>
                                    </p:set>
                                    <p:anim calcmode="lin" valueType="num">
                                      <p:cBhvr additive="base">
                                        <p:cTn id="22" dur="1000"/>
                                        <p:tgtEl>
                                          <p:spTgt spid="6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1">
                                            <p:txEl>
                                              <p:pRg st="4" end="4"/>
                                            </p:txEl>
                                          </p:spTgt>
                                        </p:tgtEl>
                                        <p:attrNameLst>
                                          <p:attrName>style.visibility</p:attrName>
                                        </p:attrNameLst>
                                      </p:cBhvr>
                                      <p:to>
                                        <p:strVal val="visible"/>
                                      </p:to>
                                    </p:set>
                                    <p:anim calcmode="lin" valueType="num">
                                      <p:cBhvr additive="base">
                                        <p:cTn id="27" dur="1000"/>
                                        <p:tgtEl>
                                          <p:spTgt spid="61">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1">
                                            <p:txEl>
                                              <p:pRg st="5" end="5"/>
                                            </p:txEl>
                                          </p:spTgt>
                                        </p:tgtEl>
                                        <p:attrNameLst>
                                          <p:attrName>style.visibility</p:attrName>
                                        </p:attrNameLst>
                                      </p:cBhvr>
                                      <p:to>
                                        <p:strVal val="visible"/>
                                      </p:to>
                                    </p:set>
                                    <p:anim calcmode="lin" valueType="num">
                                      <p:cBhvr additive="base">
                                        <p:cTn id="32" dur="1000"/>
                                        <p:tgtEl>
                                          <p:spTgt spid="61">
                                            <p:txEl>
                                              <p:pRg st="5" end="5"/>
                                            </p:txEl>
                                          </p:spTgt>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1">
                                            <p:txEl>
                                              <p:pRg st="6" end="6"/>
                                            </p:txEl>
                                          </p:spTgt>
                                        </p:tgtEl>
                                        <p:attrNameLst>
                                          <p:attrName>style.visibility</p:attrName>
                                        </p:attrNameLst>
                                      </p:cBhvr>
                                      <p:to>
                                        <p:strVal val="visible"/>
                                      </p:to>
                                    </p:set>
                                    <p:anim calcmode="lin" valueType="num">
                                      <p:cBhvr additive="base">
                                        <p:cTn id="37" dur="1000"/>
                                        <p:tgtEl>
                                          <p:spTgt spid="61">
                                            <p:txEl>
                                              <p:pRg st="6" end="6"/>
                                            </p:txEl>
                                          </p:spTgt>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61">
                                            <p:txEl>
                                              <p:pRg st="7" end="7"/>
                                            </p:txEl>
                                          </p:spTgt>
                                        </p:tgtEl>
                                        <p:attrNameLst>
                                          <p:attrName>style.visibility</p:attrName>
                                        </p:attrNameLst>
                                      </p:cBhvr>
                                      <p:to>
                                        <p:strVal val="visible"/>
                                      </p:to>
                                    </p:set>
                                    <p:anim calcmode="lin" valueType="num">
                                      <p:cBhvr additive="base">
                                        <p:cTn id="42" dur="1000"/>
                                        <p:tgtEl>
                                          <p:spTgt spid="61">
                                            <p:txEl>
                                              <p:pRg st="7" end="7"/>
                                            </p:txEl>
                                          </p:spTgt>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61">
                                            <p:txEl>
                                              <p:pRg st="8" end="8"/>
                                            </p:txEl>
                                          </p:spTgt>
                                        </p:tgtEl>
                                        <p:attrNameLst>
                                          <p:attrName>style.visibility</p:attrName>
                                        </p:attrNameLst>
                                      </p:cBhvr>
                                      <p:to>
                                        <p:strVal val="visible"/>
                                      </p:to>
                                    </p:set>
                                    <p:anim calcmode="lin" valueType="num">
                                      <p:cBhvr additive="base">
                                        <p:cTn id="47" dur="1000"/>
                                        <p:tgtEl>
                                          <p:spTgt spid="61">
                                            <p:txEl>
                                              <p:pRg st="8" end="8"/>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311700" y="445025"/>
            <a:ext cx="8520600" cy="1079100"/>
          </a:xfrm>
          <a:prstGeom prst="rect">
            <a:avLst/>
          </a:prstGeom>
        </p:spPr>
        <p:txBody>
          <a:bodyPr lIns="91425" tIns="91425" rIns="91425" bIns="91425" anchor="t" anchorCtr="0">
            <a:noAutofit/>
          </a:bodyPr>
          <a:lstStyle/>
          <a:p>
            <a:pPr lvl="0" algn="ctr" rtl="0">
              <a:spcBef>
                <a:spcPts val="0"/>
              </a:spcBef>
              <a:buNone/>
            </a:pPr>
            <a:r>
              <a:rPr lang="en" sz="3300"/>
              <a:t>“A systematic mapping study on gamified software quality”</a:t>
            </a:r>
          </a:p>
        </p:txBody>
      </p:sp>
      <p:sp>
        <p:nvSpPr>
          <p:cNvPr id="67" name="Shape 67"/>
          <p:cNvSpPr txBox="1">
            <a:spLocks noGrp="1"/>
          </p:cNvSpPr>
          <p:nvPr>
            <p:ph type="body" idx="1"/>
          </p:nvPr>
        </p:nvSpPr>
        <p:spPr>
          <a:xfrm>
            <a:off x="311700" y="1901750"/>
            <a:ext cx="8520600" cy="2667000"/>
          </a:xfrm>
          <a:prstGeom prst="rect">
            <a:avLst/>
          </a:prstGeom>
        </p:spPr>
        <p:txBody>
          <a:bodyPr lIns="91425" tIns="91425" rIns="91425" bIns="91425" anchor="t" anchorCtr="0">
            <a:noAutofit/>
          </a:bodyPr>
          <a:lstStyle/>
          <a:p>
            <a:pPr lvl="0" rtl="0">
              <a:spcBef>
                <a:spcPts val="0"/>
              </a:spcBef>
              <a:buNone/>
            </a:pPr>
            <a:endParaRPr/>
          </a:p>
          <a:p>
            <a:pPr marL="457200" lvl="0" indent="-228600" rtl="0">
              <a:spcBef>
                <a:spcPts val="0"/>
              </a:spcBef>
              <a:buChar char="●"/>
            </a:pPr>
            <a:r>
              <a:rPr lang="en"/>
              <a:t>A systematic mapping study is the study of the status of current studies on a given topic.</a:t>
            </a:r>
          </a:p>
          <a:p>
            <a:pPr marL="457200" lvl="0" indent="-228600" rtl="0">
              <a:spcBef>
                <a:spcPts val="0"/>
              </a:spcBef>
              <a:buChar char="●"/>
            </a:pPr>
            <a:r>
              <a:rPr lang="en"/>
              <a:t>The purpose is to discover what areas need further work and research in gamification.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311700" y="445025"/>
            <a:ext cx="8520600" cy="1079100"/>
          </a:xfrm>
          <a:prstGeom prst="rect">
            <a:avLst/>
          </a:prstGeom>
        </p:spPr>
        <p:txBody>
          <a:bodyPr lIns="91425" tIns="91425" rIns="91425" bIns="91425" anchor="t" anchorCtr="0">
            <a:noAutofit/>
          </a:bodyPr>
          <a:lstStyle/>
          <a:p>
            <a:pPr lvl="0" algn="ctr" rtl="0">
              <a:spcBef>
                <a:spcPts val="0"/>
              </a:spcBef>
              <a:buNone/>
            </a:pPr>
            <a:r>
              <a:rPr lang="en" sz="3300"/>
              <a:t>Search Criteria</a:t>
            </a:r>
          </a:p>
        </p:txBody>
      </p:sp>
      <p:sp>
        <p:nvSpPr>
          <p:cNvPr id="73" name="Shape 73"/>
          <p:cNvSpPr txBox="1">
            <a:spLocks noGrp="1"/>
          </p:cNvSpPr>
          <p:nvPr>
            <p:ph type="body" idx="1"/>
          </p:nvPr>
        </p:nvSpPr>
        <p:spPr>
          <a:xfrm>
            <a:off x="311700" y="1524125"/>
            <a:ext cx="8520600" cy="3012900"/>
          </a:xfrm>
          <a:prstGeom prst="rect">
            <a:avLst/>
          </a:prstGeom>
        </p:spPr>
        <p:txBody>
          <a:bodyPr lIns="91425" tIns="91425" rIns="91425" bIns="91425" anchor="t" anchorCtr="0">
            <a:noAutofit/>
          </a:bodyPr>
          <a:lstStyle/>
          <a:p>
            <a:pPr lvl="0" rtl="0">
              <a:spcBef>
                <a:spcPts val="0"/>
              </a:spcBef>
              <a:buNone/>
            </a:pPr>
            <a:r>
              <a:rPr lang="en"/>
              <a:t>Online Resources</a:t>
            </a:r>
          </a:p>
          <a:p>
            <a:pPr marL="457200" lvl="0" indent="-228600" rtl="0">
              <a:spcBef>
                <a:spcPts val="0"/>
              </a:spcBef>
              <a:buChar char="●"/>
            </a:pPr>
            <a:r>
              <a:rPr lang="en"/>
              <a:t> Scopus, Science@Direct, IEEE Digital Library, ACM Digital Library, and Springer.</a:t>
            </a:r>
          </a:p>
          <a:p>
            <a:pPr lvl="0">
              <a:spcBef>
                <a:spcPts val="0"/>
              </a:spcBef>
              <a:buNone/>
            </a:pPr>
            <a:r>
              <a:rPr lang="en"/>
              <a:t>Search Criteria</a:t>
            </a:r>
          </a:p>
          <a:p>
            <a:pPr marL="457200" lvl="0" indent="-228600" rtl="0">
              <a:spcBef>
                <a:spcPts val="0"/>
              </a:spcBef>
              <a:buChar char="●"/>
            </a:pPr>
            <a:r>
              <a:rPr lang="en"/>
              <a:t>Evaluation (evaluat* OR assess* OR measur* OR test*)</a:t>
            </a:r>
          </a:p>
          <a:p>
            <a:pPr marL="457200" lvl="0" indent="-228600" rtl="0">
              <a:spcBef>
                <a:spcPts val="0"/>
              </a:spcBef>
              <a:buChar char="●"/>
            </a:pPr>
            <a:r>
              <a:rPr lang="en"/>
              <a:t>Gamification (gamif* OR gameif* OR ludif* OR “funware”)</a:t>
            </a:r>
          </a:p>
          <a:p>
            <a:pPr lvl="0" rtl="0">
              <a:spcBef>
                <a:spcPts val="0"/>
              </a:spcBef>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IEEE Digital Library</a:t>
            </a:r>
          </a:p>
        </p:txBody>
      </p:sp>
      <p:sp>
        <p:nvSpPr>
          <p:cNvPr id="79" name="Shape 79"/>
          <p:cNvSpPr txBox="1">
            <a:spLocks noGrp="1"/>
          </p:cNvSpPr>
          <p:nvPr>
            <p:ph type="body" idx="1"/>
          </p:nvPr>
        </p:nvSpPr>
        <p:spPr>
          <a:xfrm>
            <a:off x="311700" y="1139425"/>
            <a:ext cx="8520600" cy="3416400"/>
          </a:xfrm>
          <a:prstGeom prst="rect">
            <a:avLst/>
          </a:prstGeom>
        </p:spPr>
        <p:txBody>
          <a:bodyPr lIns="91425" tIns="91425" rIns="91425" bIns="91425" anchor="t" anchorCtr="0">
            <a:noAutofit/>
          </a:bodyPr>
          <a:lstStyle/>
          <a:p>
            <a:pPr lvl="0" rtl="0">
              <a:spcBef>
                <a:spcPts val="0"/>
              </a:spcBef>
              <a:buNone/>
            </a:pPr>
            <a:r>
              <a:rPr lang="en"/>
              <a:t>Results: 45 papers found that contain “gamification.”</a:t>
            </a:r>
          </a:p>
          <a:p>
            <a:pPr marL="457200" lvl="0" indent="-317500" rtl="0">
              <a:spcBef>
                <a:spcPts val="0"/>
              </a:spcBef>
              <a:buSzPct val="100000"/>
              <a:buChar char="●"/>
            </a:pPr>
            <a:r>
              <a:rPr lang="en" sz="1400"/>
              <a:t>Paper: Gamification in Enterprise Information Systems: What, Why and How</a:t>
            </a:r>
          </a:p>
          <a:p>
            <a:pPr marL="457200" lvl="0" indent="-317500" rtl="0">
              <a:spcBef>
                <a:spcPts val="0"/>
              </a:spcBef>
              <a:buSzPct val="100000"/>
              <a:buChar char="●"/>
            </a:pPr>
            <a:r>
              <a:rPr lang="en" sz="1400"/>
              <a:t>Summary: A review of how Gamification can be applied to business practices and application. This research paper highlights the importance and benefit of gamification in the work environment and things to pay attention to (as an employer) during implementation. </a:t>
            </a:r>
          </a:p>
          <a:p>
            <a:pPr marL="457200" lvl="0" indent="-317500" rtl="0">
              <a:spcBef>
                <a:spcPts val="0"/>
              </a:spcBef>
              <a:buSzPct val="100000"/>
              <a:buChar char="●"/>
            </a:pPr>
            <a:r>
              <a:rPr lang="en" sz="1400"/>
              <a:t>Findings: Gamification has the opportunity to improve work environments by eliminating stress and tension due to using game like tactics to complete tasks. Gamification (in study) could increase performance, attitude, social relations, and training activities. In a younger generation that has adapted to game like tactics already, gamification provides the opportunity to excel in the workplace.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Characteristics of Paper</a:t>
            </a:r>
          </a:p>
        </p:txBody>
      </p:sp>
      <p:sp>
        <p:nvSpPr>
          <p:cNvPr id="85" name="Shape 85"/>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Leaderboards, Progression bars, Elitism, Friending, Group Questing, Moats (Improving on weakness).</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Usability-User interface aesthetics</a:t>
            </a:r>
          </a:p>
          <a:p>
            <a:pPr marL="457200" lvl="0" indent="-228600" rtl="0">
              <a:spcBef>
                <a:spcPts val="0"/>
              </a:spcBef>
              <a:buChar char="●"/>
            </a:pPr>
            <a:r>
              <a:rPr lang="en" sz="1400" b="1" dirty="0"/>
              <a:t>Qualities in Engagement: </a:t>
            </a:r>
            <a:r>
              <a:rPr lang="en" sz="1400" dirty="0"/>
              <a:t>Participation, Performance, Communication, and Frequency of Achievements</a:t>
            </a:r>
          </a:p>
          <a:p>
            <a:pPr marL="457200" lvl="0" indent="-228600" rtl="0">
              <a:spcBef>
                <a:spcPts val="0"/>
              </a:spcBef>
              <a:buChar char="●"/>
            </a:pPr>
            <a:r>
              <a:rPr lang="en" sz="1400" b="1" dirty="0"/>
              <a:t>Research Method:</a:t>
            </a:r>
            <a:r>
              <a:rPr lang="en" sz="1400" dirty="0"/>
              <a:t> Theoretical </a:t>
            </a:r>
          </a:p>
          <a:p>
            <a:pPr marL="457200" lvl="0" indent="-228600" rtl="0">
              <a:spcBef>
                <a:spcPts val="0"/>
              </a:spcBef>
              <a:buChar char="●"/>
            </a:pPr>
            <a:r>
              <a:rPr lang="en" sz="1400" b="1" dirty="0"/>
              <a:t>Application Area:</a:t>
            </a:r>
            <a:r>
              <a:rPr lang="en" sz="1400" dirty="0"/>
              <a:t>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ScienceDirect eJournal Collection</a:t>
            </a:r>
          </a:p>
        </p:txBody>
      </p:sp>
      <p:sp>
        <p:nvSpPr>
          <p:cNvPr id="91" name="Shape 91"/>
          <p:cNvSpPr txBox="1">
            <a:spLocks noGrp="1"/>
          </p:cNvSpPr>
          <p:nvPr>
            <p:ph type="body" idx="1"/>
          </p:nvPr>
        </p:nvSpPr>
        <p:spPr>
          <a:xfrm>
            <a:off x="311700" y="1139425"/>
            <a:ext cx="8520600" cy="3416400"/>
          </a:xfrm>
          <a:prstGeom prst="rect">
            <a:avLst/>
          </a:prstGeom>
        </p:spPr>
        <p:txBody>
          <a:bodyPr lIns="91425" tIns="91425" rIns="91425" bIns="91425" anchor="t" anchorCtr="0">
            <a:noAutofit/>
          </a:bodyPr>
          <a:lstStyle/>
          <a:p>
            <a:pPr lvl="0" rtl="0">
              <a:spcBef>
                <a:spcPts val="0"/>
              </a:spcBef>
              <a:buNone/>
            </a:pPr>
            <a:r>
              <a:rPr lang="en"/>
              <a:t>Results: 97 papers found that contain “gamification”  and “evaluation.”</a:t>
            </a:r>
          </a:p>
          <a:p>
            <a:pPr marL="457200" lvl="0" indent="-317500" rtl="0">
              <a:spcBef>
                <a:spcPts val="0"/>
              </a:spcBef>
              <a:buSzPct val="100000"/>
              <a:buChar char="●"/>
            </a:pPr>
            <a:r>
              <a:rPr lang="en" sz="1400"/>
              <a:t>Paper: Gamification and Mobile Marketing Effectiveness</a:t>
            </a:r>
          </a:p>
          <a:p>
            <a:pPr marL="457200" lvl="0" indent="-317500" rtl="0">
              <a:spcBef>
                <a:spcPts val="0"/>
              </a:spcBef>
              <a:buSzPct val="100000"/>
              <a:buChar char="●"/>
            </a:pPr>
            <a:r>
              <a:rPr lang="en" sz="1400"/>
              <a:t>Summary: A study of how gamification can benefit mobile marketing strategies based on integration of non-intrusive, game-like techniques in advertising. </a:t>
            </a:r>
          </a:p>
          <a:p>
            <a:pPr marL="457200" lvl="0" indent="-317500" rtl="0">
              <a:spcBef>
                <a:spcPts val="0"/>
              </a:spcBef>
              <a:buSzPct val="100000"/>
              <a:buChar char="●"/>
            </a:pPr>
            <a:r>
              <a:rPr lang="en" sz="1400"/>
              <a:t>Findings: Gamification has the opportunity to improve advertising by introducing non-intrusive, story based gamification techniques in advertising. This will provide an overall more enjoyable experience for users and lead to more effective advertisements and more business.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Characteristics of Paper</a:t>
            </a:r>
          </a:p>
        </p:txBody>
      </p:sp>
      <p:sp>
        <p:nvSpPr>
          <p:cNvPr id="97" name="Shape 97"/>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Leaderboards, Badges, Elitism, Mystery, Surprise, Discovery.</a:t>
            </a:r>
          </a:p>
          <a:p>
            <a:pPr marL="457200" lvl="0" indent="-228600" rtl="0">
              <a:spcBef>
                <a:spcPts val="0"/>
              </a:spcBef>
              <a:buChar char="●"/>
            </a:pPr>
            <a:r>
              <a:rPr lang="en" sz="1400" b="1" dirty="0"/>
              <a:t>Qualities in Use Mode: </a:t>
            </a:r>
            <a:r>
              <a:rPr lang="en" sz="1400" dirty="0"/>
              <a:t>Effectiveness, Satisfaction-Usefulness</a:t>
            </a:r>
          </a:p>
          <a:p>
            <a:pPr marL="457200" lvl="0" indent="-228600" rtl="0">
              <a:spcBef>
                <a:spcPts val="0"/>
              </a:spcBef>
              <a:buChar char="●"/>
            </a:pPr>
            <a:r>
              <a:rPr lang="en" sz="1400" b="1" dirty="0"/>
              <a:t>Qualities in Product Quality Model:</a:t>
            </a:r>
            <a:r>
              <a:rPr lang="en" sz="1400" dirty="0"/>
              <a:t> Usability-Learnability, Usability-Operability, Usability-User interface aesthetics</a:t>
            </a:r>
          </a:p>
          <a:p>
            <a:pPr marL="457200" lvl="0" indent="-228600" rtl="0">
              <a:spcBef>
                <a:spcPts val="0"/>
              </a:spcBef>
              <a:buChar char="●"/>
            </a:pPr>
            <a:r>
              <a:rPr lang="en" sz="1400" b="1" dirty="0"/>
              <a:t>Qualities in Engagement: </a:t>
            </a:r>
            <a:r>
              <a:rPr lang="en" sz="1400" dirty="0"/>
              <a:t>Participation, Performance, and Frequency of Achievements</a:t>
            </a:r>
          </a:p>
          <a:p>
            <a:pPr marL="457200" lvl="0" indent="-228600" rtl="0">
              <a:spcBef>
                <a:spcPts val="0"/>
              </a:spcBef>
              <a:buChar char="●"/>
            </a:pPr>
            <a:r>
              <a:rPr lang="en" sz="1400" b="1" dirty="0"/>
              <a:t>Research Method:</a:t>
            </a:r>
            <a:r>
              <a:rPr lang="en" sz="1400" dirty="0"/>
              <a:t> Theoretical</a:t>
            </a:r>
          </a:p>
          <a:p>
            <a:pPr marL="457200" lvl="0" indent="-228600" rtl="0">
              <a:spcBef>
                <a:spcPts val="0"/>
              </a:spcBef>
              <a:buChar char="●"/>
            </a:pPr>
            <a:r>
              <a:rPr lang="en" sz="1400" b="1" dirty="0"/>
              <a:t>Application Area:</a:t>
            </a:r>
            <a:r>
              <a:rPr lang="en" sz="1400" dirty="0"/>
              <a:t> Marketing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None/>
            </a:pPr>
            <a:r>
              <a:rPr lang="en"/>
              <a:t>SpringerLink</a:t>
            </a:r>
          </a:p>
        </p:txBody>
      </p:sp>
      <p:sp>
        <p:nvSpPr>
          <p:cNvPr id="103" name="Shape 103"/>
          <p:cNvSpPr txBox="1">
            <a:spLocks noGrp="1"/>
          </p:cNvSpPr>
          <p:nvPr>
            <p:ph type="body" idx="1"/>
          </p:nvPr>
        </p:nvSpPr>
        <p:spPr>
          <a:xfrm>
            <a:off x="311700" y="1139425"/>
            <a:ext cx="8520600" cy="3416400"/>
          </a:xfrm>
          <a:prstGeom prst="rect">
            <a:avLst/>
          </a:prstGeom>
        </p:spPr>
        <p:txBody>
          <a:bodyPr lIns="91425" tIns="91425" rIns="91425" bIns="91425" anchor="t" anchorCtr="0">
            <a:noAutofit/>
          </a:bodyPr>
          <a:lstStyle/>
          <a:p>
            <a:pPr lvl="0">
              <a:spcBef>
                <a:spcPts val="0"/>
              </a:spcBef>
              <a:buNone/>
            </a:pPr>
            <a:r>
              <a:rPr lang="en"/>
              <a:t>Results: 120 papers found</a:t>
            </a:r>
          </a:p>
          <a:p>
            <a:pPr marL="457200" lvl="0" indent="-317500" rtl="0">
              <a:spcBef>
                <a:spcPts val="0"/>
              </a:spcBef>
              <a:buSzPct val="100000"/>
              <a:buChar char="●"/>
            </a:pPr>
            <a:r>
              <a:rPr lang="en" sz="1400"/>
              <a:t>Paper: Online e-learning application for practicing foreign language skills with native speakers</a:t>
            </a:r>
          </a:p>
          <a:p>
            <a:pPr marL="457200" lvl="0" indent="-317500" rtl="0">
              <a:spcBef>
                <a:spcPts val="0"/>
              </a:spcBef>
              <a:buSzPct val="100000"/>
              <a:buChar char="●"/>
            </a:pPr>
            <a:r>
              <a:rPr lang="en" sz="1400"/>
              <a:t>Summary: An online learning web-based application called i2istudy helps people that want to speak foreign languages or keep up with current languages talk with real people through webcams. This application uses gamification </a:t>
            </a:r>
          </a:p>
          <a:p>
            <a:pPr marL="457200" lvl="0" indent="-317500" rtl="0">
              <a:spcBef>
                <a:spcPts val="0"/>
              </a:spcBef>
              <a:buSzPct val="100000"/>
              <a:buChar char="●"/>
            </a:pPr>
            <a:r>
              <a:rPr lang="en" sz="1400"/>
              <a:t>Findings: About 40,000 users registered for this system, mostly to learn English. Only 20% of those users actually made a call because the rest were too shy to talk with strangers, or they didn’t want to spend the time they had. The average call after a few months came to be about 14.4 minutes.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None/>
            </a:pPr>
            <a:r>
              <a:rPr lang="en"/>
              <a:t>Characteristics of Paper</a:t>
            </a:r>
          </a:p>
        </p:txBody>
      </p:sp>
      <p:sp>
        <p:nvSpPr>
          <p:cNvPr id="109" name="Shape 109"/>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Time banking, unlocking lessons, points in form of starts, achievements/badges, peer evaluation.</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a:t>
            </a:r>
          </a:p>
          <a:p>
            <a:pPr marL="457200" lvl="0" indent="-228600" rtl="0">
              <a:spcBef>
                <a:spcPts val="0"/>
              </a:spcBef>
              <a:buChar char="●"/>
            </a:pPr>
            <a:r>
              <a:rPr lang="en" sz="1400" b="1" dirty="0"/>
              <a:t>Qualities in Engagement: </a:t>
            </a:r>
            <a:r>
              <a:rPr lang="en" sz="1400" dirty="0"/>
              <a:t>Participation, Performance, Communication, and Frequency of Achievements</a:t>
            </a:r>
          </a:p>
          <a:p>
            <a:pPr marL="457200" lvl="0" indent="-228600" rtl="0">
              <a:spcBef>
                <a:spcPts val="0"/>
              </a:spcBef>
              <a:buChar char="●"/>
            </a:pPr>
            <a:r>
              <a:rPr lang="en" sz="1400" b="1" dirty="0"/>
              <a:t>Research Method:</a:t>
            </a:r>
            <a:r>
              <a:rPr lang="en" sz="1400" dirty="0"/>
              <a:t> Experiment</a:t>
            </a:r>
          </a:p>
          <a:p>
            <a:pPr marL="457200" lvl="0" indent="-228600">
              <a:spcBef>
                <a:spcPts val="0"/>
              </a:spcBef>
              <a:buChar char="●"/>
            </a:pPr>
            <a:r>
              <a:rPr lang="en" sz="1400" b="1" dirty="0"/>
              <a:t>Application Area:</a:t>
            </a:r>
            <a:r>
              <a:rPr lang="en" sz="1400" dirty="0"/>
              <a:t> Education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Shape 114"/>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SpringerLink (con’t.)</a:t>
            </a:r>
          </a:p>
        </p:txBody>
      </p:sp>
      <p:sp>
        <p:nvSpPr>
          <p:cNvPr id="115" name="Shape 115"/>
          <p:cNvSpPr txBox="1">
            <a:spLocks noGrp="1"/>
          </p:cNvSpPr>
          <p:nvPr>
            <p:ph type="body" idx="1"/>
          </p:nvPr>
        </p:nvSpPr>
        <p:spPr>
          <a:xfrm>
            <a:off x="311700" y="1139425"/>
            <a:ext cx="8520600" cy="3416400"/>
          </a:xfrm>
          <a:prstGeom prst="rect">
            <a:avLst/>
          </a:prstGeom>
        </p:spPr>
        <p:txBody>
          <a:bodyPr lIns="91425" tIns="91425" rIns="91425" bIns="91425" anchor="t" anchorCtr="0">
            <a:noAutofit/>
          </a:bodyPr>
          <a:lstStyle/>
          <a:p>
            <a:pPr lvl="0" rtl="0">
              <a:spcBef>
                <a:spcPts val="0"/>
              </a:spcBef>
              <a:buNone/>
            </a:pPr>
            <a:r>
              <a:rPr lang="en"/>
              <a:t>Results: 120 papers found</a:t>
            </a:r>
          </a:p>
          <a:p>
            <a:pPr marL="457200" lvl="0" indent="-317500" rtl="0">
              <a:spcBef>
                <a:spcPts val="0"/>
              </a:spcBef>
              <a:buSzPct val="100000"/>
              <a:buChar char="●"/>
            </a:pPr>
            <a:r>
              <a:rPr lang="en" sz="1400"/>
              <a:t>Paper: Gamification for smarter learning: tales from the trenches</a:t>
            </a:r>
          </a:p>
          <a:p>
            <a:pPr marL="457200" lvl="0" indent="-317500" rtl="0">
              <a:spcBef>
                <a:spcPts val="0"/>
              </a:spcBef>
              <a:buSzPct val="100000"/>
              <a:buChar char="●"/>
            </a:pPr>
            <a:r>
              <a:rPr lang="en" sz="1400"/>
              <a:t>Summary: A study was conducted over two years where a college would give a gamified engineering course at their institution. The participants in this course would start at 0 XP, and would gain experience by completing assignments, reading powerpoint slides, having the whole class get above 80% on a lab assignment, etc. </a:t>
            </a:r>
          </a:p>
          <a:p>
            <a:pPr marL="457200" lvl="0" indent="-317500" rtl="0">
              <a:spcBef>
                <a:spcPts val="0"/>
              </a:spcBef>
              <a:buSzPct val="100000"/>
              <a:buChar char="●"/>
            </a:pPr>
            <a:r>
              <a:rPr lang="en" sz="1400"/>
              <a:t>Findings: Between the first and second years of the study, the highest mean grades were a 90% for the first year and a 98.74%. This also increased participation in the Underachievers (students that were lowest on ranks of XP and leaderboard rankings) from 40% to 25%. But overall, they found this course to be more engaging than the regular courses offered.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Characteristics of Paper</a:t>
            </a:r>
          </a:p>
        </p:txBody>
      </p:sp>
      <p:sp>
        <p:nvSpPr>
          <p:cNvPr id="121" name="Shape 121"/>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Points in the form of XP, Badges, Levels, and Leaderboards</a:t>
            </a:r>
          </a:p>
          <a:p>
            <a:pPr marL="457200" lvl="0" indent="-228600" rtl="0">
              <a:spcBef>
                <a:spcPts val="0"/>
              </a:spcBef>
              <a:buChar char="●"/>
            </a:pPr>
            <a:r>
              <a:rPr lang="en" sz="1400" b="1" dirty="0"/>
              <a:t>Qualities in Use Mode: </a:t>
            </a:r>
            <a:r>
              <a:rPr lang="en" sz="1400" dirty="0"/>
              <a:t>Effectiveness, Satisfaction-Pleasure</a:t>
            </a:r>
          </a:p>
          <a:p>
            <a:pPr marL="457200" lvl="0" indent="-228600" rtl="0">
              <a:spcBef>
                <a:spcPts val="0"/>
              </a:spcBef>
              <a:buChar char="●"/>
            </a:pPr>
            <a:r>
              <a:rPr lang="en" sz="1400" b="1" dirty="0"/>
              <a:t>Qualities in Product Quality Model:</a:t>
            </a:r>
            <a:r>
              <a:rPr lang="en" sz="1400" dirty="0"/>
              <a:t> Functional Suitability-Functional Appropriateness, usability-user interface aesthetics</a:t>
            </a:r>
          </a:p>
          <a:p>
            <a:pPr marL="457200" lvl="0" indent="-228600" rtl="0">
              <a:spcBef>
                <a:spcPts val="0"/>
              </a:spcBef>
              <a:buChar char="●"/>
            </a:pPr>
            <a:r>
              <a:rPr lang="en" sz="1400" b="1" dirty="0"/>
              <a:t>Qualities in Engagement: </a:t>
            </a:r>
            <a:r>
              <a:rPr lang="en" sz="1400" dirty="0"/>
              <a:t>Participation, Communication/socialization, and Frequency of Achievements</a:t>
            </a:r>
          </a:p>
          <a:p>
            <a:pPr marL="457200" lvl="0" indent="-228600" rtl="0">
              <a:spcBef>
                <a:spcPts val="0"/>
              </a:spcBef>
              <a:buChar char="●"/>
            </a:pPr>
            <a:r>
              <a:rPr lang="en" sz="1400" b="1" dirty="0"/>
              <a:t>Research Method:</a:t>
            </a:r>
            <a:r>
              <a:rPr lang="en" sz="1400" dirty="0"/>
              <a:t> Experiment</a:t>
            </a:r>
          </a:p>
          <a:p>
            <a:pPr marL="457200" lvl="0" indent="-228600" rtl="0">
              <a:spcBef>
                <a:spcPts val="0"/>
              </a:spcBef>
              <a:buChar char="●"/>
            </a:pPr>
            <a:r>
              <a:rPr lang="en" sz="1400" b="1" dirty="0"/>
              <a:t>Application Area:</a:t>
            </a:r>
            <a:r>
              <a:rPr lang="en" sz="1400" dirty="0"/>
              <a:t> Education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Shape 126"/>
          <p:cNvSpPr txBox="1">
            <a:spLocks noGrp="1"/>
          </p:cNvSpPr>
          <p:nvPr>
            <p:ph type="title"/>
          </p:nvPr>
        </p:nvSpPr>
        <p:spPr>
          <a:xfrm>
            <a:off x="311700" y="419050"/>
            <a:ext cx="8520600" cy="674700"/>
          </a:xfrm>
          <a:prstGeom prst="rect">
            <a:avLst/>
          </a:prstGeom>
        </p:spPr>
        <p:txBody>
          <a:bodyPr lIns="91425" tIns="91425" rIns="91425" bIns="91425" anchor="t" anchorCtr="0">
            <a:noAutofit/>
          </a:bodyPr>
          <a:lstStyle/>
          <a:p>
            <a:pPr lvl="0" algn="ctr" rtl="0">
              <a:spcBef>
                <a:spcPts val="0"/>
              </a:spcBef>
              <a:buNone/>
            </a:pPr>
            <a:r>
              <a:rPr lang="en"/>
              <a:t>ACM Digital Library</a:t>
            </a:r>
          </a:p>
        </p:txBody>
      </p:sp>
      <p:sp>
        <p:nvSpPr>
          <p:cNvPr id="127" name="Shape 127"/>
          <p:cNvSpPr txBox="1">
            <a:spLocks noGrp="1"/>
          </p:cNvSpPr>
          <p:nvPr>
            <p:ph type="body" idx="1"/>
          </p:nvPr>
        </p:nvSpPr>
        <p:spPr>
          <a:xfrm>
            <a:off x="311700" y="1255850"/>
            <a:ext cx="8520600" cy="3059700"/>
          </a:xfrm>
          <a:prstGeom prst="rect">
            <a:avLst/>
          </a:prstGeom>
        </p:spPr>
        <p:txBody>
          <a:bodyPr lIns="91425" tIns="91425" rIns="91425" bIns="91425" anchor="t" anchorCtr="0">
            <a:noAutofit/>
          </a:bodyPr>
          <a:lstStyle/>
          <a:p>
            <a:pPr lvl="0" rtl="0">
              <a:spcBef>
                <a:spcPts val="0"/>
              </a:spcBef>
              <a:buClr>
                <a:schemeClr val="dk1"/>
              </a:buClr>
              <a:buSzPct val="78571"/>
              <a:buFont typeface="Arial"/>
              <a:buNone/>
            </a:pPr>
            <a:r>
              <a:rPr lang="en"/>
              <a:t>Results: </a:t>
            </a:r>
            <a:r>
              <a:rPr lang="en" sz="1400"/>
              <a:t>32 papers found</a:t>
            </a:r>
          </a:p>
          <a:p>
            <a:pPr marL="457200" lvl="0" indent="-317500" rtl="0">
              <a:spcBef>
                <a:spcPts val="0"/>
              </a:spcBef>
              <a:buSzPct val="100000"/>
              <a:buChar char="●"/>
            </a:pPr>
            <a:r>
              <a:rPr lang="en" sz="1400"/>
              <a:t>Paper : Deconstructing gamification: Evaluating the effectiveness of continuous measurement, virtual rewards and social comparison for promoting physical activity</a:t>
            </a:r>
          </a:p>
          <a:p>
            <a:pPr marL="457200" lvl="0" indent="-317500" rtl="0">
              <a:spcBef>
                <a:spcPts val="0"/>
              </a:spcBef>
              <a:buSzPct val="100000"/>
              <a:buChar char="●"/>
            </a:pPr>
            <a:r>
              <a:rPr lang="en" sz="1400"/>
              <a:t>Summary: Gamified fitness software called Step-By-Step is evaluated to determine the effectiveness of gamification vs quantified versions of the software.</a:t>
            </a:r>
          </a:p>
          <a:p>
            <a:pPr lvl="0" rtl="0">
              <a:spcBef>
                <a:spcPts val="0"/>
              </a:spcBef>
              <a:buNone/>
            </a:pPr>
            <a:endParaRPr/>
          </a:p>
          <a:p>
            <a:pPr lvl="0" rtl="0">
              <a:spcBef>
                <a:spcPts val="0"/>
              </a:spcBef>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Characteristics of Paper</a:t>
            </a:r>
          </a:p>
        </p:txBody>
      </p:sp>
      <p:sp>
        <p:nvSpPr>
          <p:cNvPr id="133" name="Shape 133"/>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Points, Leaderboard</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a:t>
            </a:r>
          </a:p>
          <a:p>
            <a:pPr marL="457200" lvl="0" indent="-228600" rtl="0">
              <a:spcBef>
                <a:spcPts val="0"/>
              </a:spcBef>
              <a:buChar char="●"/>
            </a:pPr>
            <a:r>
              <a:rPr lang="en" sz="1400" b="1" dirty="0"/>
              <a:t>Qualities in Engagement: </a:t>
            </a:r>
            <a:r>
              <a:rPr lang="en" sz="1400" dirty="0"/>
              <a:t>Participation, Performance </a:t>
            </a:r>
          </a:p>
          <a:p>
            <a:pPr marL="457200" lvl="0" indent="-228600" rtl="0">
              <a:spcBef>
                <a:spcPts val="0"/>
              </a:spcBef>
              <a:buChar char="●"/>
            </a:pPr>
            <a:r>
              <a:rPr lang="en" sz="1400" b="1" dirty="0"/>
              <a:t>Research Method:</a:t>
            </a:r>
            <a:r>
              <a:rPr lang="en" sz="1400" dirty="0"/>
              <a:t> Experiment</a:t>
            </a:r>
          </a:p>
          <a:p>
            <a:pPr marL="457200" lvl="0" indent="-228600" rtl="0">
              <a:spcBef>
                <a:spcPts val="0"/>
              </a:spcBef>
              <a:buChar char="●"/>
            </a:pPr>
            <a:r>
              <a:rPr lang="en" sz="1400" b="1" dirty="0"/>
              <a:t>Application Area:</a:t>
            </a:r>
            <a:r>
              <a:rPr lang="en" sz="1400" dirty="0"/>
              <a:t>Fitness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Shape 138"/>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Clr>
                <a:schemeClr val="dk1"/>
              </a:buClr>
              <a:buSzPct val="39285"/>
              <a:buFont typeface="Arial"/>
              <a:buNone/>
            </a:pPr>
            <a:r>
              <a:rPr lang="en"/>
              <a:t>ACM Digital Library(con’t.)</a:t>
            </a:r>
          </a:p>
        </p:txBody>
      </p:sp>
      <p:sp>
        <p:nvSpPr>
          <p:cNvPr id="139" name="Shape 139"/>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lvl="0">
              <a:spcBef>
                <a:spcPts val="0"/>
              </a:spcBef>
              <a:buClr>
                <a:schemeClr val="dk1"/>
              </a:buClr>
              <a:buSzPct val="78571"/>
              <a:buFont typeface="Arial"/>
              <a:buNone/>
            </a:pPr>
            <a:r>
              <a:rPr lang="en"/>
              <a:t>Results: </a:t>
            </a:r>
            <a:r>
              <a:rPr lang="en" sz="1400"/>
              <a:t>32 papers found</a:t>
            </a:r>
          </a:p>
          <a:p>
            <a:pPr marL="457200" lvl="0" indent="-317500">
              <a:spcBef>
                <a:spcPts val="0"/>
              </a:spcBef>
              <a:buSzPct val="100000"/>
              <a:buChar char="●"/>
            </a:pPr>
            <a:r>
              <a:rPr lang="en" sz="1400"/>
              <a:t>Paper : “There is No Rose Without A Thorn”: An Assessment of a Game Design Experience for Children</a:t>
            </a:r>
          </a:p>
          <a:p>
            <a:pPr marL="457200" lvl="0" indent="-317500">
              <a:spcBef>
                <a:spcPts val="0"/>
              </a:spcBef>
              <a:buSzPct val="100000"/>
              <a:buChar char="●"/>
            </a:pPr>
            <a:r>
              <a:rPr lang="en" sz="1400"/>
              <a:t>Summary: This paper addresses children helping design games through a gamified experience.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Clr>
                <a:schemeClr val="dk1"/>
              </a:buClr>
              <a:buSzPct val="39285"/>
              <a:buFont typeface="Arial"/>
              <a:buNone/>
            </a:pPr>
            <a:r>
              <a:rPr lang="en"/>
              <a:t>Characteristics of Paper</a:t>
            </a:r>
          </a:p>
        </p:txBody>
      </p:sp>
      <p:sp>
        <p:nvSpPr>
          <p:cNvPr id="145" name="Shape 145"/>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28600" rtl="0">
              <a:spcBef>
                <a:spcPts val="0"/>
              </a:spcBef>
              <a:buChar char="●"/>
            </a:pPr>
            <a:r>
              <a:rPr lang="en" sz="1400" b="1" dirty="0"/>
              <a:t>Gamification Qualities:</a:t>
            </a:r>
            <a:r>
              <a:rPr lang="en" sz="1400" dirty="0"/>
              <a:t> Missions and Challenges, Rewards</a:t>
            </a:r>
          </a:p>
          <a:p>
            <a:pPr marL="457200" lvl="0" indent="-228600" rtl="0">
              <a:spcBef>
                <a:spcPts val="0"/>
              </a:spcBef>
              <a:buChar char="●"/>
            </a:pPr>
            <a:r>
              <a:rPr lang="en" sz="1400" b="1" dirty="0"/>
              <a:t>Qualities in Use Mode: </a:t>
            </a:r>
            <a:r>
              <a:rPr lang="en" sz="1400" dirty="0"/>
              <a:t>Effectiveness, Satisfaction-Pleasure, Satisfaction-Usefulness</a:t>
            </a:r>
          </a:p>
          <a:p>
            <a:pPr marL="457200" lvl="0" indent="-228600" rtl="0">
              <a:spcBef>
                <a:spcPts val="0"/>
              </a:spcBef>
              <a:buChar char="●"/>
            </a:pPr>
            <a:r>
              <a:rPr lang="en" sz="1400" b="1" dirty="0"/>
              <a:t>Qualities in Product Quality Model:</a:t>
            </a:r>
            <a:r>
              <a:rPr lang="en" sz="1400" dirty="0"/>
              <a:t> Usability-Learnability, Usability-Operability </a:t>
            </a:r>
          </a:p>
          <a:p>
            <a:pPr marL="457200" lvl="0" indent="-228600" rtl="0">
              <a:spcBef>
                <a:spcPts val="0"/>
              </a:spcBef>
              <a:buChar char="●"/>
            </a:pPr>
            <a:r>
              <a:rPr lang="en" sz="1400" b="1" dirty="0"/>
              <a:t>Qualities in Engagement: </a:t>
            </a:r>
            <a:r>
              <a:rPr lang="en" sz="1400" dirty="0"/>
              <a:t>Participation</a:t>
            </a:r>
          </a:p>
          <a:p>
            <a:pPr marL="457200" lvl="0" indent="-228600" rtl="0">
              <a:spcBef>
                <a:spcPts val="0"/>
              </a:spcBef>
              <a:buChar char="●"/>
            </a:pPr>
            <a:r>
              <a:rPr lang="en" sz="1400" b="1" dirty="0"/>
              <a:t>Research Method:</a:t>
            </a:r>
            <a:r>
              <a:rPr lang="en" sz="1400" dirty="0"/>
              <a:t> Experiment</a:t>
            </a:r>
          </a:p>
          <a:p>
            <a:pPr marL="457200" lvl="0" indent="-228600">
              <a:spcBef>
                <a:spcPts val="0"/>
              </a:spcBef>
              <a:buChar char="●"/>
            </a:pPr>
            <a:r>
              <a:rPr lang="en" sz="1400" b="1" dirty="0"/>
              <a:t>Application Area:</a:t>
            </a:r>
            <a:r>
              <a:rPr lang="en" sz="1400" dirty="0"/>
              <a:t>Education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Clr>
                <a:schemeClr val="dk1"/>
              </a:buClr>
              <a:buSzPct val="39285"/>
              <a:buFont typeface="Arial"/>
              <a:buNone/>
            </a:pPr>
            <a:r>
              <a:rPr lang="en"/>
              <a:t>Results</a:t>
            </a:r>
          </a:p>
        </p:txBody>
      </p:sp>
      <p:sp>
        <p:nvSpPr>
          <p:cNvPr id="151" name="Shape 151"/>
          <p:cNvSpPr txBox="1">
            <a:spLocks noGrp="1"/>
          </p:cNvSpPr>
          <p:nvPr>
            <p:ph type="body" idx="1"/>
          </p:nvPr>
        </p:nvSpPr>
        <p:spPr>
          <a:xfrm>
            <a:off x="311700" y="1123775"/>
            <a:ext cx="8520600" cy="3618900"/>
          </a:xfrm>
          <a:prstGeom prst="rect">
            <a:avLst/>
          </a:prstGeom>
        </p:spPr>
        <p:txBody>
          <a:bodyPr lIns="91425" tIns="91425" rIns="91425" bIns="91425" anchor="t" anchorCtr="0">
            <a:noAutofit/>
          </a:bodyPr>
          <a:lstStyle/>
          <a:p>
            <a:pPr marL="457200" lvl="0" indent="-304800">
              <a:spcBef>
                <a:spcPts val="0"/>
              </a:spcBef>
              <a:buSzPct val="100000"/>
              <a:buChar char="●"/>
            </a:pPr>
            <a:r>
              <a:rPr lang="en" sz="1200" b="1"/>
              <a:t>RQ1</a:t>
            </a:r>
            <a:r>
              <a:rPr lang="en" sz="1200"/>
              <a:t>:What gamified software quality characteristics have been addressed?</a:t>
            </a:r>
            <a:br>
              <a:rPr lang="en" sz="1200"/>
            </a:br>
            <a:r>
              <a:rPr lang="en" sz="1200"/>
              <a:t>	Quality of Use-(38 papers,%) (table 3)</a:t>
            </a:r>
            <a:br>
              <a:rPr lang="en" sz="1200"/>
            </a:br>
            <a:r>
              <a:rPr lang="en" sz="1200"/>
              <a:t>		effectiveness (30 papers, 85.71%) </a:t>
            </a:r>
            <a:r>
              <a:rPr lang="en" sz="1200">
                <a:solidFill>
                  <a:srgbClr val="FF0000"/>
                </a:solidFill>
              </a:rPr>
              <a:t>new</a:t>
            </a:r>
            <a:r>
              <a:rPr lang="en" sz="1200"/>
              <a:t> </a:t>
            </a:r>
            <a:r>
              <a:rPr lang="en" sz="1200">
                <a:solidFill>
                  <a:srgbClr val="666666"/>
                </a:solidFill>
              </a:rPr>
              <a:t>(36 papers, 87.08%)</a:t>
            </a:r>
            <a:r>
              <a:rPr lang="en" sz="1200"/>
              <a:t/>
            </a:r>
            <a:br>
              <a:rPr lang="en" sz="1200"/>
            </a:br>
            <a:r>
              <a:rPr lang="en" sz="1200"/>
              <a:t>		satisfaction-pleasure (18 papers, 51.43%) </a:t>
            </a:r>
            <a:r>
              <a:rPr lang="en" sz="1200">
                <a:solidFill>
                  <a:srgbClr val="FF0000"/>
                </a:solidFill>
              </a:rPr>
              <a:t>new </a:t>
            </a:r>
            <a:r>
              <a:rPr lang="en" sz="1200"/>
              <a:t>(23 papers, 56.09%)</a:t>
            </a:r>
            <a:br>
              <a:rPr lang="en" sz="1200"/>
            </a:br>
            <a:r>
              <a:rPr lang="en" sz="1200"/>
              <a:t>		satisfaction-usefulness(8 papers, 22.</a:t>
            </a:r>
            <a:r>
              <a:rPr lang="en" sz="1200">
                <a:solidFill>
                  <a:srgbClr val="FF0000"/>
                </a:solidFill>
              </a:rPr>
              <a:t>86%</a:t>
            </a:r>
            <a:r>
              <a:rPr lang="en" sz="1200"/>
              <a:t>) </a:t>
            </a:r>
            <a:r>
              <a:rPr lang="en" sz="1200">
                <a:solidFill>
                  <a:srgbClr val="FF0000"/>
                </a:solidFill>
              </a:rPr>
              <a:t>new </a:t>
            </a:r>
            <a:r>
              <a:rPr lang="en" sz="1200"/>
              <a:t>(13 papers, 31.70%)</a:t>
            </a:r>
            <a:br>
              <a:rPr lang="en" sz="1200"/>
            </a:br>
            <a:r>
              <a:rPr lang="en" sz="1200"/>
              <a:t>	Why use gamification(30 papers-85%) (no table)</a:t>
            </a:r>
            <a:br>
              <a:rPr lang="en" sz="1200"/>
            </a:br>
            <a:r>
              <a:rPr lang="en" sz="1200"/>
              <a:t>		user engagement (12 papers, 34.29%) </a:t>
            </a:r>
            <a:r>
              <a:rPr lang="en" sz="1200">
                <a:solidFill>
                  <a:srgbClr val="FF0000"/>
                </a:solidFill>
              </a:rPr>
              <a:t>new </a:t>
            </a:r>
            <a:r>
              <a:rPr lang="en" sz="1200"/>
              <a:t>(14 papers, 34.14%)</a:t>
            </a:r>
            <a:br>
              <a:rPr lang="en" sz="1200"/>
            </a:br>
            <a:r>
              <a:rPr lang="en" sz="1200"/>
              <a:t>		engagement/motivation (9 papers, 25.71%) </a:t>
            </a:r>
            <a:r>
              <a:rPr lang="en" sz="1200">
                <a:solidFill>
                  <a:srgbClr val="FF0000"/>
                </a:solidFill>
              </a:rPr>
              <a:t>new </a:t>
            </a:r>
            <a:r>
              <a:rPr lang="en" sz="1200"/>
              <a:t>(11 papers, 26.82%)</a:t>
            </a:r>
            <a:br>
              <a:rPr lang="en" sz="1200"/>
            </a:br>
            <a:r>
              <a:rPr lang="en" sz="1200"/>
              <a:t>		motivation (9 papers, 25.71%) </a:t>
            </a:r>
            <a:r>
              <a:rPr lang="en" sz="1200">
                <a:solidFill>
                  <a:srgbClr val="FF0000"/>
                </a:solidFill>
              </a:rPr>
              <a:t>new </a:t>
            </a:r>
            <a:r>
              <a:rPr lang="en" sz="1200"/>
              <a:t>(12 papers, 29.26%)</a:t>
            </a:r>
            <a:br>
              <a:rPr lang="en" sz="1200"/>
            </a:br>
            <a:r>
              <a:rPr lang="en" sz="1200"/>
              <a:t>		None (5 papers,14%)</a:t>
            </a:r>
            <a:br>
              <a:rPr lang="en" sz="1200"/>
            </a:br>
            <a:r>
              <a:rPr lang="en" sz="1200"/>
              <a:t>	Characteristics of the product quality-11 papers (31.43%) (table 4)</a:t>
            </a:r>
            <a:br>
              <a:rPr lang="en" sz="1200"/>
            </a:br>
            <a:r>
              <a:rPr lang="en" sz="1200"/>
              <a:t>		Suitability-appropriateness (3 papers, %) </a:t>
            </a:r>
            <a:r>
              <a:rPr lang="en" sz="1200">
                <a:solidFill>
                  <a:srgbClr val="FF0000"/>
                </a:solidFill>
              </a:rPr>
              <a:t>new </a:t>
            </a:r>
            <a:r>
              <a:rPr lang="en" sz="1200"/>
              <a:t>(4 papers, 9.75%)</a:t>
            </a:r>
            <a:br>
              <a:rPr lang="en" sz="1200"/>
            </a:br>
            <a:r>
              <a:rPr lang="en" sz="1200"/>
              <a:t>		User Interface-Aesthetics (1 paper,2.8%) </a:t>
            </a:r>
            <a:r>
              <a:rPr lang="en" sz="1200">
                <a:solidFill>
                  <a:srgbClr val="FF0000"/>
                </a:solidFill>
              </a:rPr>
              <a:t>new </a:t>
            </a:r>
            <a:r>
              <a:rPr lang="en" sz="1200"/>
              <a:t>(4 papers, 9.75%)</a:t>
            </a:r>
            <a:br>
              <a:rPr lang="en" sz="1200"/>
            </a:br>
            <a:r>
              <a:rPr lang="en" sz="1200"/>
              <a:t>		Operability (7 papers, 20%) </a:t>
            </a:r>
            <a:r>
              <a:rPr lang="en" sz="1200">
                <a:solidFill>
                  <a:srgbClr val="FF0000"/>
                </a:solidFill>
              </a:rPr>
              <a:t>new </a:t>
            </a:r>
            <a:r>
              <a:rPr lang="en" sz="1200">
                <a:solidFill>
                  <a:srgbClr val="666666"/>
                </a:solidFill>
              </a:rPr>
              <a:t>(12 papers, 29.26%)</a:t>
            </a:r>
            <a:r>
              <a:rPr lang="en" sz="1200"/>
              <a:t/>
            </a:r>
            <a:br>
              <a:rPr lang="en" sz="1200"/>
            </a:br>
            <a:r>
              <a:rPr lang="en" sz="1200"/>
              <a:t>		Learnability (1 paper, 2.8%) </a:t>
            </a:r>
            <a:r>
              <a:rPr lang="en" sz="1200">
                <a:solidFill>
                  <a:srgbClr val="FF0000"/>
                </a:solidFill>
              </a:rPr>
              <a:t>new </a:t>
            </a:r>
            <a:r>
              <a:rPr lang="en" sz="1200">
                <a:solidFill>
                  <a:srgbClr val="666666"/>
                </a:solidFill>
              </a:rPr>
              <a:t>(6 papers, 14.63%)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a:spcBef>
                <a:spcPts val="0"/>
              </a:spcBef>
              <a:buClr>
                <a:schemeClr val="dk1"/>
              </a:buClr>
              <a:buSzPct val="39285"/>
              <a:buFont typeface="Arial"/>
              <a:buNone/>
            </a:pPr>
            <a:r>
              <a:rPr lang="en"/>
              <a:t>Results</a:t>
            </a:r>
          </a:p>
        </p:txBody>
      </p:sp>
      <p:sp>
        <p:nvSpPr>
          <p:cNvPr id="157" name="Shape 157"/>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317500">
              <a:spcBef>
                <a:spcPts val="0"/>
              </a:spcBef>
              <a:buSzPct val="100000"/>
              <a:buChar char="●"/>
            </a:pPr>
            <a:r>
              <a:rPr lang="en" sz="1400" b="1"/>
              <a:t>RQ2</a:t>
            </a:r>
            <a:r>
              <a:rPr lang="en" sz="1400"/>
              <a:t>:. What research methods have been used when investigating gamified software quality?</a:t>
            </a:r>
            <a:br>
              <a:rPr lang="en" sz="1400"/>
            </a:br>
            <a:r>
              <a:rPr lang="en" sz="1400"/>
              <a:t>	-Research Method</a:t>
            </a:r>
            <a:br>
              <a:rPr lang="en" sz="1400"/>
            </a:br>
            <a:r>
              <a:rPr lang="en" sz="1400"/>
              <a:t>		Quasi-experimental(18 papers, 51%)</a:t>
            </a:r>
            <a:br>
              <a:rPr lang="en" sz="1400"/>
            </a:br>
            <a:r>
              <a:rPr lang="en" sz="1400"/>
              <a:t>		Experimental (10 papers, 29%) </a:t>
            </a:r>
            <a:r>
              <a:rPr lang="en" sz="1400">
                <a:solidFill>
                  <a:srgbClr val="FF0000"/>
                </a:solidFill>
              </a:rPr>
              <a:t>new </a:t>
            </a:r>
            <a:r>
              <a:rPr lang="en" sz="1400">
                <a:solidFill>
                  <a:srgbClr val="666666"/>
                </a:solidFill>
              </a:rPr>
              <a:t>(14 papers, 34.14%)</a:t>
            </a:r>
            <a:r>
              <a:rPr lang="en" sz="1400"/>
              <a:t/>
            </a:r>
            <a:br>
              <a:rPr lang="en" sz="1400"/>
            </a:br>
            <a:r>
              <a:rPr lang="en" sz="1400"/>
              <a:t>		Theoretical (3 papers, 8.5%) </a:t>
            </a:r>
            <a:r>
              <a:rPr lang="en" sz="1400">
                <a:solidFill>
                  <a:srgbClr val="FF0000"/>
                </a:solidFill>
              </a:rPr>
              <a:t>new </a:t>
            </a:r>
            <a:r>
              <a:rPr lang="en" sz="1400"/>
              <a:t>(5 papers, 12.19%)</a:t>
            </a:r>
            <a:br>
              <a:rPr lang="en" sz="1400"/>
            </a:br>
            <a:r>
              <a:rPr lang="en" sz="1400"/>
              <a:t>		Case Study(4 papers, 11%)</a:t>
            </a:r>
            <a:br>
              <a:rPr lang="en" sz="1400"/>
            </a:br>
            <a:r>
              <a:rPr lang="en" sz="1400"/>
              <a:t>	-Experiment -Engagement measurement</a:t>
            </a:r>
            <a:br>
              <a:rPr lang="en" sz="1400"/>
            </a:br>
            <a:r>
              <a:rPr lang="en" sz="1400"/>
              <a:t>		Participation (9 papers, 25.5%) </a:t>
            </a:r>
            <a:r>
              <a:rPr lang="en" sz="1400">
                <a:solidFill>
                  <a:srgbClr val="FF0000"/>
                </a:solidFill>
              </a:rPr>
              <a:t>new </a:t>
            </a:r>
            <a:r>
              <a:rPr lang="en" sz="1400">
                <a:solidFill>
                  <a:srgbClr val="666666"/>
                </a:solidFill>
              </a:rPr>
              <a:t>(15 papers, 36.58%)</a:t>
            </a:r>
            <a:r>
              <a:rPr lang="en" sz="1400"/>
              <a:t/>
            </a:r>
            <a:br>
              <a:rPr lang="en" sz="1400"/>
            </a:br>
            <a:r>
              <a:rPr lang="en" sz="1400"/>
              <a:t>		Performance(26 papers, 74%) </a:t>
            </a:r>
            <a:r>
              <a:rPr lang="en" sz="1400">
                <a:solidFill>
                  <a:srgbClr val="FF0000"/>
                </a:solidFill>
              </a:rPr>
              <a:t>new </a:t>
            </a:r>
            <a:r>
              <a:rPr lang="en" sz="1400"/>
              <a:t>(30 papers, 73.17%)</a:t>
            </a:r>
            <a:br>
              <a:rPr lang="en" sz="1400"/>
            </a:br>
            <a:r>
              <a:rPr lang="en" sz="1400"/>
              <a:t>		Communication(6 papers,17%) </a:t>
            </a:r>
            <a:r>
              <a:rPr lang="en" sz="1400">
                <a:solidFill>
                  <a:srgbClr val="FF0000"/>
                </a:solidFill>
              </a:rPr>
              <a:t>new </a:t>
            </a:r>
            <a:r>
              <a:rPr lang="en" sz="1400"/>
              <a:t>(9 papers, 21.95%)</a:t>
            </a:r>
            <a:br>
              <a:rPr lang="en" sz="1400"/>
            </a:br>
            <a:r>
              <a:rPr lang="en" sz="1400"/>
              <a:t>		Frequency of achievements(4 papers,11%) </a:t>
            </a:r>
            <a:r>
              <a:rPr lang="en" sz="1400">
                <a:solidFill>
                  <a:srgbClr val="FF0000"/>
                </a:solidFill>
              </a:rPr>
              <a:t>new </a:t>
            </a:r>
            <a:r>
              <a:rPr lang="en" sz="1400"/>
              <a:t>(8 papers, 19.51%)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Shape 162"/>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Results</a:t>
            </a:r>
          </a:p>
        </p:txBody>
      </p:sp>
      <p:sp>
        <p:nvSpPr>
          <p:cNvPr id="163" name="Shape 163"/>
          <p:cNvSpPr txBox="1">
            <a:spLocks noGrp="1"/>
          </p:cNvSpPr>
          <p:nvPr>
            <p:ph type="body" idx="1"/>
          </p:nvPr>
        </p:nvSpPr>
        <p:spPr>
          <a:xfrm>
            <a:off x="311700" y="1564475"/>
            <a:ext cx="8520600" cy="2781600"/>
          </a:xfrm>
          <a:prstGeom prst="rect">
            <a:avLst/>
          </a:prstGeom>
        </p:spPr>
        <p:txBody>
          <a:bodyPr lIns="91425" tIns="91425" rIns="91425" bIns="91425" anchor="t" anchorCtr="0">
            <a:noAutofit/>
          </a:bodyPr>
          <a:lstStyle/>
          <a:p>
            <a:pPr marL="457200" lvl="0" indent="-317500" rtl="0">
              <a:spcBef>
                <a:spcPts val="0"/>
              </a:spcBef>
              <a:buSzPct val="100000"/>
              <a:buChar char="●"/>
            </a:pPr>
            <a:r>
              <a:rPr lang="en" sz="1400" b="1"/>
              <a:t>RQ3</a:t>
            </a:r>
            <a:r>
              <a:rPr lang="en" sz="1400"/>
              <a:t> What has the outcome of the research been?</a:t>
            </a:r>
            <a:br>
              <a:rPr lang="en" sz="1400"/>
            </a:br>
            <a:r>
              <a:rPr lang="en" sz="1400"/>
              <a:t>		“knowledge” (30 paper, 85%) </a:t>
            </a:r>
            <a:r>
              <a:rPr lang="en" sz="1400">
                <a:solidFill>
                  <a:srgbClr val="FF0000"/>
                </a:solidFill>
              </a:rPr>
              <a:t>new </a:t>
            </a:r>
            <a:r>
              <a:rPr lang="en" sz="1400">
                <a:solidFill>
                  <a:srgbClr val="666666"/>
                </a:solidFill>
              </a:rPr>
              <a:t>(36 papers, 87.80%)</a:t>
            </a:r>
            <a:r>
              <a:rPr lang="en" sz="1400"/>
              <a:t/>
            </a:r>
            <a:br>
              <a:rPr lang="en" sz="1400"/>
            </a:br>
            <a:r>
              <a:rPr lang="en" sz="1400"/>
              <a:t>		Framework (5, 14%)</a:t>
            </a:r>
          </a:p>
          <a:p>
            <a:pPr marL="457200" lvl="0" indent="-317500" rtl="0">
              <a:spcBef>
                <a:spcPts val="0"/>
              </a:spcBef>
              <a:buSzPct val="100000"/>
              <a:buChar char="●"/>
            </a:pPr>
            <a:r>
              <a:rPr lang="en" sz="1400" b="1"/>
              <a:t>RQ4</a:t>
            </a:r>
            <a:r>
              <a:rPr lang="en" sz="1400"/>
              <a:t>: On which software artifacts from gamified software has the research on quality been focused</a:t>
            </a:r>
            <a:br>
              <a:rPr lang="en" sz="1400"/>
            </a:br>
            <a:r>
              <a:rPr lang="en" sz="1400"/>
              <a:t>		After development (32, 91.43%)</a:t>
            </a:r>
            <a:br>
              <a:rPr lang="en" sz="1400"/>
            </a:br>
            <a:r>
              <a:rPr lang="en" sz="1400"/>
              <a:t>		Design stage. (Only (2 5.71%)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Shape 168"/>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Results</a:t>
            </a:r>
          </a:p>
        </p:txBody>
      </p:sp>
      <p:sp>
        <p:nvSpPr>
          <p:cNvPr id="169" name="Shape 169"/>
          <p:cNvSpPr txBox="1">
            <a:spLocks noGrp="1"/>
          </p:cNvSpPr>
          <p:nvPr>
            <p:ph type="body" idx="1"/>
          </p:nvPr>
        </p:nvSpPr>
        <p:spPr>
          <a:xfrm>
            <a:off x="311700" y="1129700"/>
            <a:ext cx="8520600" cy="3468000"/>
          </a:xfrm>
          <a:prstGeom prst="rect">
            <a:avLst/>
          </a:prstGeom>
        </p:spPr>
        <p:txBody>
          <a:bodyPr lIns="91425" tIns="91425" rIns="91425" bIns="91425" anchor="t" anchorCtr="0">
            <a:noAutofit/>
          </a:bodyPr>
          <a:lstStyle/>
          <a:p>
            <a:pPr marL="457200" lvl="0" indent="-304800" rtl="0">
              <a:spcBef>
                <a:spcPts val="0"/>
              </a:spcBef>
              <a:buSzPct val="100000"/>
              <a:buChar char="●"/>
            </a:pPr>
            <a:r>
              <a:rPr lang="en" sz="1200" b="1"/>
              <a:t>RQ5</a:t>
            </a:r>
            <a:r>
              <a:rPr lang="en" sz="1200"/>
              <a:t>:What gamification elements have been used in gamified software</a:t>
            </a:r>
            <a:br>
              <a:rPr lang="en" sz="1200"/>
            </a:br>
            <a:r>
              <a:rPr lang="en" sz="1200"/>
              <a:t>		points and badges (23 papers each, 65.71%) </a:t>
            </a:r>
            <a:r>
              <a:rPr lang="en" sz="1200">
                <a:solidFill>
                  <a:srgbClr val="FF0000"/>
                </a:solidFill>
              </a:rPr>
              <a:t>new </a:t>
            </a:r>
            <a:r>
              <a:rPr lang="en" sz="1200">
                <a:solidFill>
                  <a:srgbClr val="666666"/>
                </a:solidFill>
              </a:rPr>
              <a:t>(28 papers, 68.29%)</a:t>
            </a:r>
            <a:br>
              <a:rPr lang="en" sz="1200">
                <a:solidFill>
                  <a:srgbClr val="666666"/>
                </a:solidFill>
              </a:rPr>
            </a:br>
            <a:r>
              <a:rPr lang="en" sz="1200"/>
              <a:t>			COMBO of points and badges (16 papers; 45.71%) </a:t>
            </a:r>
            <a:r>
              <a:rPr lang="en" sz="1200">
                <a:solidFill>
                  <a:srgbClr val="FF0000"/>
                </a:solidFill>
              </a:rPr>
              <a:t>new </a:t>
            </a:r>
            <a:r>
              <a:rPr lang="en" sz="1200"/>
              <a:t>(19 papers, 46.34%)</a:t>
            </a:r>
            <a:br>
              <a:rPr lang="en" sz="1200"/>
            </a:br>
            <a:r>
              <a:rPr lang="en" sz="1200"/>
              <a:t>		leaderboards (18, 51.43%) </a:t>
            </a:r>
            <a:r>
              <a:rPr lang="en" sz="1200">
                <a:solidFill>
                  <a:srgbClr val="FF0000"/>
                </a:solidFill>
              </a:rPr>
              <a:t>new </a:t>
            </a:r>
            <a:r>
              <a:rPr lang="en" sz="1200"/>
              <a:t>(22 papers, 53.66%)</a:t>
            </a:r>
            <a:br>
              <a:rPr lang="en" sz="1200"/>
            </a:br>
            <a:r>
              <a:rPr lang="en" sz="1200"/>
              <a:t>		levels (14, 27.45%), </a:t>
            </a:r>
            <a:r>
              <a:rPr lang="en" sz="1200">
                <a:solidFill>
                  <a:srgbClr val="FF0000"/>
                </a:solidFill>
              </a:rPr>
              <a:t>new </a:t>
            </a:r>
            <a:r>
              <a:rPr lang="en" sz="1200"/>
              <a:t>(15 papers, 36.59%)</a:t>
            </a:r>
            <a:br>
              <a:rPr lang="en" sz="1200"/>
            </a:br>
            <a:r>
              <a:rPr lang="en" sz="1200"/>
              <a:t>		rewards (6 papers, 17.14%) </a:t>
            </a:r>
            <a:r>
              <a:rPr lang="en" sz="1200">
                <a:solidFill>
                  <a:srgbClr val="FF0000"/>
                </a:solidFill>
              </a:rPr>
              <a:t>new </a:t>
            </a:r>
            <a:r>
              <a:rPr lang="en" sz="1200"/>
              <a:t>(7 papers, 17.07%)</a:t>
            </a:r>
            <a:br>
              <a:rPr lang="en" sz="1200"/>
            </a:br>
            <a:r>
              <a:rPr lang="en" sz="1200"/>
              <a:t>		 unlocking (2 papers, 5.71%) </a:t>
            </a:r>
            <a:r>
              <a:rPr lang="en" sz="1200">
                <a:solidFill>
                  <a:srgbClr val="FF0000"/>
                </a:solidFill>
              </a:rPr>
              <a:t>new </a:t>
            </a:r>
            <a:r>
              <a:rPr lang="en" sz="1200"/>
              <a:t>(3 papers, 7.32%)</a:t>
            </a:r>
            <a:br>
              <a:rPr lang="en" sz="1200"/>
            </a:br>
            <a:r>
              <a:rPr lang="en" sz="1200"/>
              <a:t>		Progression bars, Elitism,time banking, other(0 papers) </a:t>
            </a:r>
            <a:r>
              <a:rPr lang="en" sz="1200">
                <a:solidFill>
                  <a:srgbClr val="FF0000"/>
                </a:solidFill>
              </a:rPr>
              <a:t>new </a:t>
            </a:r>
            <a:r>
              <a:rPr lang="en" sz="1200"/>
              <a:t>(5 papers, 12.20%)</a:t>
            </a:r>
          </a:p>
          <a:p>
            <a:pPr marL="457200" lvl="0" indent="-304800" rtl="0">
              <a:spcBef>
                <a:spcPts val="0"/>
              </a:spcBef>
              <a:buSzPct val="100000"/>
              <a:buChar char="●"/>
            </a:pPr>
            <a:r>
              <a:rPr lang="en" sz="1200" b="1"/>
              <a:t>RQ6 </a:t>
            </a:r>
            <a:r>
              <a:rPr lang="en" sz="1200"/>
              <a:t> What have the application areas of gamification been?</a:t>
            </a:r>
            <a:br>
              <a:rPr lang="en" sz="1200"/>
            </a:br>
            <a:r>
              <a:rPr lang="en" sz="1200"/>
              <a:t>		 “Education” (13 papers, 37,14%) </a:t>
            </a:r>
            <a:r>
              <a:rPr lang="en" sz="1200">
                <a:solidFill>
                  <a:srgbClr val="FF0000"/>
                </a:solidFill>
              </a:rPr>
              <a:t>new </a:t>
            </a:r>
            <a:r>
              <a:rPr lang="en" sz="1200">
                <a:solidFill>
                  <a:srgbClr val="666666"/>
                </a:solidFill>
              </a:rPr>
              <a:t>(16 papers, 39.02%)</a:t>
            </a:r>
            <a:r>
              <a:rPr lang="en" sz="1200"/>
              <a:t/>
            </a:r>
            <a:br>
              <a:rPr lang="en" sz="1200"/>
            </a:br>
            <a:r>
              <a:rPr lang="en" sz="1200"/>
              <a:t>		“social networks, business, marketing, banking, etc” (7, 20%) </a:t>
            </a:r>
            <a:r>
              <a:rPr lang="en" sz="1200">
                <a:solidFill>
                  <a:srgbClr val="FF0000"/>
                </a:solidFill>
              </a:rPr>
              <a:t>new </a:t>
            </a:r>
            <a:r>
              <a:rPr lang="en" sz="1200"/>
              <a:t>(8 papers, 19.51%)</a:t>
            </a:r>
            <a:br>
              <a:rPr lang="en" sz="1200"/>
            </a:br>
            <a:r>
              <a:rPr lang="en" sz="1200"/>
              <a:t>		“Work” (4 papers, 11%) </a:t>
            </a:r>
            <a:r>
              <a:rPr lang="en" sz="1200">
                <a:solidFill>
                  <a:srgbClr val="FF0000"/>
                </a:solidFill>
              </a:rPr>
              <a:t>new </a:t>
            </a:r>
            <a:r>
              <a:rPr lang="en" sz="1200"/>
              <a:t>(5 papers)</a:t>
            </a:r>
            <a:br>
              <a:rPr lang="en" sz="1200"/>
            </a:br>
            <a:r>
              <a:rPr lang="en" sz="1200"/>
              <a:t>		“Environment” (3 papers, 8.5%)</a:t>
            </a:r>
            <a:br>
              <a:rPr lang="en" sz="1200"/>
            </a:br>
            <a:r>
              <a:rPr lang="en" sz="1200"/>
              <a:t>		Enterprise Social Network (2 papers, 5.71%)</a:t>
            </a:r>
            <a:br>
              <a:rPr lang="en" sz="1200"/>
            </a:br>
            <a:r>
              <a:rPr lang="en" sz="1200"/>
              <a:t>		 Software engineering (2 papers, 5.71%)</a:t>
            </a:r>
            <a:br>
              <a:rPr lang="en" sz="1200"/>
            </a:br>
            <a:r>
              <a:rPr lang="en" sz="1200"/>
              <a:t>		Fitness(0 papers) </a:t>
            </a:r>
            <a:r>
              <a:rPr lang="en" sz="1200">
                <a:solidFill>
                  <a:srgbClr val="FF0000"/>
                </a:solidFill>
              </a:rPr>
              <a:t>new</a:t>
            </a:r>
            <a:r>
              <a:rPr lang="en" sz="1200"/>
              <a:t> (1 paper, 2.43%)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Shape 174"/>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Conclusion</a:t>
            </a:r>
          </a:p>
        </p:txBody>
      </p:sp>
      <p:sp>
        <p:nvSpPr>
          <p:cNvPr id="175" name="Shape 175"/>
          <p:cNvSpPr txBox="1">
            <a:spLocks noGrp="1"/>
          </p:cNvSpPr>
          <p:nvPr>
            <p:ph type="body" idx="1"/>
          </p:nvPr>
        </p:nvSpPr>
        <p:spPr>
          <a:xfrm>
            <a:off x="311700" y="1538400"/>
            <a:ext cx="8520600" cy="2066700"/>
          </a:xfrm>
          <a:prstGeom prst="rect">
            <a:avLst/>
          </a:prstGeom>
        </p:spPr>
        <p:txBody>
          <a:bodyPr lIns="91425" tIns="91425" rIns="91425" bIns="91425" anchor="t" anchorCtr="0">
            <a:noAutofit/>
          </a:bodyPr>
          <a:lstStyle/>
          <a:p>
            <a:pPr marL="457200" lvl="0" indent="-304800" rtl="0">
              <a:spcBef>
                <a:spcPts val="0"/>
              </a:spcBef>
              <a:buClr>
                <a:srgbClr val="333333"/>
              </a:buClr>
              <a:buSzPct val="66666"/>
              <a:buFont typeface="Times New Roman"/>
              <a:buChar char="●"/>
            </a:pPr>
            <a:r>
              <a:rPr lang="en">
                <a:solidFill>
                  <a:srgbClr val="333333"/>
                </a:solidFill>
                <a:highlight>
                  <a:srgbClr val="FCFCFC"/>
                </a:highlight>
                <a:latin typeface="Times New Roman"/>
                <a:ea typeface="Times New Roman"/>
                <a:cs typeface="Times New Roman"/>
                <a:sym typeface="Times New Roman"/>
              </a:rPr>
              <a:t>Gamification is growing in the field of education the quickest.</a:t>
            </a:r>
          </a:p>
          <a:p>
            <a:pPr marL="457200" lvl="0" indent="-304800" rtl="0">
              <a:spcBef>
                <a:spcPts val="0"/>
              </a:spcBef>
              <a:buClr>
                <a:srgbClr val="333333"/>
              </a:buClr>
              <a:buSzPct val="66666"/>
              <a:buFont typeface="Times New Roman"/>
              <a:buChar char="●"/>
            </a:pPr>
            <a:r>
              <a:rPr lang="en">
                <a:solidFill>
                  <a:srgbClr val="333333"/>
                </a:solidFill>
                <a:highlight>
                  <a:srgbClr val="FCFCFC"/>
                </a:highlight>
                <a:latin typeface="Times New Roman"/>
                <a:ea typeface="Times New Roman"/>
                <a:cs typeface="Times New Roman"/>
                <a:sym typeface="Times New Roman"/>
              </a:rPr>
              <a:t>Points and Badges are the most used gamified elements.</a:t>
            </a:r>
          </a:p>
          <a:p>
            <a:pPr marL="457200" lvl="0" indent="-304800" rtl="0">
              <a:spcBef>
                <a:spcPts val="0"/>
              </a:spcBef>
              <a:buClr>
                <a:srgbClr val="333333"/>
              </a:buClr>
              <a:buSzPct val="66666"/>
              <a:buFont typeface="Times New Roman"/>
              <a:buChar char="●"/>
            </a:pPr>
            <a:r>
              <a:rPr lang="en">
                <a:solidFill>
                  <a:srgbClr val="333333"/>
                </a:solidFill>
                <a:highlight>
                  <a:srgbClr val="FCFCFC"/>
                </a:highlight>
                <a:latin typeface="Times New Roman"/>
                <a:ea typeface="Times New Roman"/>
                <a:cs typeface="Times New Roman"/>
                <a:sym typeface="Times New Roman"/>
              </a:rPr>
              <a:t>Because of the rate of growth more papers need to be included in the study and further research conducted.</a:t>
            </a:r>
          </a:p>
          <a:p>
            <a:pPr lvl="0" rtl="0">
              <a:spcBef>
                <a:spcPts val="0"/>
              </a:spcBef>
              <a:buNone/>
            </a:pPr>
            <a:endParaRPr sz="1200">
              <a:solidFill>
                <a:srgbClr val="333333"/>
              </a:solidFill>
              <a:highlight>
                <a:srgbClr val="FCFCFC"/>
              </a:highlight>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Shape 180"/>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Bibliography</a:t>
            </a:r>
          </a:p>
        </p:txBody>
      </p:sp>
      <p:sp>
        <p:nvSpPr>
          <p:cNvPr id="181" name="Shape 181"/>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85750" rtl="0">
              <a:lnSpc>
                <a:spcPct val="115000"/>
              </a:lnSpc>
              <a:spcBef>
                <a:spcPts val="0"/>
              </a:spcBef>
              <a:spcAft>
                <a:spcPts val="600"/>
              </a:spcAft>
              <a:buClr>
                <a:srgbClr val="333333"/>
              </a:buClr>
              <a:buSzPct val="90000"/>
              <a:buFont typeface="Times New Roman"/>
              <a:buChar char="●"/>
            </a:pPr>
            <a:r>
              <a:rPr lang="en" sz="1000">
                <a:solidFill>
                  <a:srgbClr val="3B3E41"/>
                </a:solidFill>
                <a:highlight>
                  <a:srgbClr val="FFFFFF"/>
                </a:highlight>
                <a:latin typeface="Times New Roman"/>
                <a:ea typeface="Times New Roman"/>
                <a:cs typeface="Times New Roman"/>
                <a:sym typeface="Times New Roman"/>
              </a:rPr>
              <a:t>Charles Hofacker, Ko De Ruyter, Nicholas H. Lurie, Puneet Manchanda, and Jeff Donaldson. Gamification Design for Mobile Marketing Effectiveness. SSRN Electronic Journal. DOI:http://dx.doi.org/10.2139/ssrn.2600856</a:t>
            </a:r>
          </a:p>
          <a:p>
            <a:pPr marL="457200" lvl="0" indent="-285750" rtl="0">
              <a:spcBef>
                <a:spcPts val="0"/>
              </a:spcBef>
              <a:buClr>
                <a:srgbClr val="333333"/>
              </a:buClr>
              <a:buSzPct val="100000"/>
              <a:buFont typeface="Times New Roman"/>
              <a:buChar char="●"/>
            </a:pPr>
            <a:r>
              <a:rPr lang="en" sz="900">
                <a:solidFill>
                  <a:schemeClr val="dk1"/>
                </a:solidFill>
                <a:highlight>
                  <a:srgbClr val="F1F4F5"/>
                </a:highlight>
                <a:latin typeface="Times New Roman"/>
                <a:ea typeface="Times New Roman"/>
                <a:cs typeface="Times New Roman"/>
                <a:sym typeface="Times New Roman"/>
              </a:rPr>
              <a:t>Barata, Gabriel, Sandra Gama, Joaquim Jorge, and Daniel Daniel Gonçalves. "Gamification for Smarter Learning: Tales from the Trenches." </a:t>
            </a:r>
            <a:r>
              <a:rPr lang="en" sz="900" i="1">
                <a:solidFill>
                  <a:schemeClr val="dk1"/>
                </a:solidFill>
                <a:highlight>
                  <a:srgbClr val="F1F4F5"/>
                </a:highlight>
                <a:latin typeface="Times New Roman"/>
                <a:ea typeface="Times New Roman"/>
                <a:cs typeface="Times New Roman"/>
                <a:sym typeface="Times New Roman"/>
              </a:rPr>
              <a:t>SpringerLink</a:t>
            </a:r>
            <a:r>
              <a:rPr lang="en" sz="900">
                <a:solidFill>
                  <a:schemeClr val="dk1"/>
                </a:solidFill>
                <a:highlight>
                  <a:srgbClr val="F1F4F5"/>
                </a:highlight>
                <a:latin typeface="Times New Roman"/>
                <a:ea typeface="Times New Roman"/>
                <a:cs typeface="Times New Roman"/>
                <a:sym typeface="Times New Roman"/>
              </a:rPr>
              <a:t>. INESC-ID/Instituto Superior TécnicoUniversidade De LisboaLisbonPortugal, 21 May 2015. Web. 14 Dec. 2016.</a:t>
            </a:r>
            <a:br>
              <a:rPr lang="en" sz="900">
                <a:solidFill>
                  <a:schemeClr val="dk1"/>
                </a:solidFill>
                <a:highlight>
                  <a:srgbClr val="F1F4F5"/>
                </a:highlight>
                <a:latin typeface="Times New Roman"/>
                <a:ea typeface="Times New Roman"/>
                <a:cs typeface="Times New Roman"/>
                <a:sym typeface="Times New Roman"/>
              </a:rPr>
            </a:br>
            <a:endParaRPr lang="en" sz="900">
              <a:solidFill>
                <a:schemeClr val="dk1"/>
              </a:solidFill>
              <a:highlight>
                <a:srgbClr val="F1F4F5"/>
              </a:highlight>
              <a:latin typeface="Times New Roman"/>
              <a:ea typeface="Times New Roman"/>
              <a:cs typeface="Times New Roman"/>
              <a:sym typeface="Times New Roman"/>
            </a:endParaRPr>
          </a:p>
          <a:p>
            <a:pPr marL="457200" lvl="0" indent="-285750" rtl="0">
              <a:spcBef>
                <a:spcPts val="0"/>
              </a:spcBef>
              <a:buClr>
                <a:srgbClr val="333333"/>
              </a:buClr>
              <a:buSzPct val="100000"/>
              <a:buFont typeface="Times New Roman"/>
              <a:buChar char="●"/>
            </a:pPr>
            <a:r>
              <a:rPr lang="en" sz="900">
                <a:solidFill>
                  <a:srgbClr val="333333"/>
                </a:solidFill>
                <a:highlight>
                  <a:srgbClr val="FCFCFC"/>
                </a:highlight>
                <a:latin typeface="Times New Roman"/>
                <a:ea typeface="Times New Roman"/>
                <a:cs typeface="Times New Roman"/>
                <a:sym typeface="Times New Roman"/>
              </a:rPr>
              <a:t>Dodero, Gabriella.,Rosella Gennari, Alessandra Melonio, and Santina Torello. “There Is No Rose Without A Thorn: An Assessment of a Game Design Experience for Children.” Proceedings of the 11th Biannual Conference on Italian SIGCHI, ch.10-17, 2015.</a:t>
            </a:r>
            <a:br>
              <a:rPr lang="en" sz="900">
                <a:solidFill>
                  <a:srgbClr val="333333"/>
                </a:solidFill>
                <a:highlight>
                  <a:srgbClr val="FCFCFC"/>
                </a:highlight>
                <a:latin typeface="Times New Roman"/>
                <a:ea typeface="Times New Roman"/>
                <a:cs typeface="Times New Roman"/>
                <a:sym typeface="Times New Roman"/>
              </a:rPr>
            </a:br>
            <a:endParaRPr lang="en" sz="900">
              <a:solidFill>
                <a:srgbClr val="333333"/>
              </a:solidFill>
              <a:highlight>
                <a:srgbClr val="FCFCFC"/>
              </a:highlight>
              <a:latin typeface="Times New Roman"/>
              <a:ea typeface="Times New Roman"/>
              <a:cs typeface="Times New Roman"/>
              <a:sym typeface="Times New Roman"/>
            </a:endParaRPr>
          </a:p>
          <a:p>
            <a:pPr marL="457200" lvl="0" indent="-285750" rtl="0">
              <a:spcBef>
                <a:spcPts val="0"/>
              </a:spcBef>
              <a:buClr>
                <a:srgbClr val="333333"/>
              </a:buClr>
              <a:buSzPct val="100000"/>
              <a:buFont typeface="Times New Roman"/>
              <a:buChar char="●"/>
            </a:pPr>
            <a:r>
              <a:rPr lang="en" sz="900">
                <a:solidFill>
                  <a:srgbClr val="333333"/>
                </a:solidFill>
                <a:highlight>
                  <a:srgbClr val="FCFCFC"/>
                </a:highlight>
                <a:latin typeface="Times New Roman"/>
                <a:ea typeface="Times New Roman"/>
                <a:cs typeface="Times New Roman"/>
                <a:sym typeface="Times New Roman"/>
              </a:rPr>
              <a:t>Gal-Oz, Ayelet., Zuckerman, Oren. “Deconstructing gamification: Evaluating the effectiveness of continuous measurement, virtual rewards and social comparison for promoting physical activity.” Personal and Ubiquitous Computing, vol. 18, issue 7, 2014, 1705-1719.</a:t>
            </a:r>
            <a:br>
              <a:rPr lang="en" sz="900">
                <a:solidFill>
                  <a:srgbClr val="333333"/>
                </a:solidFill>
                <a:highlight>
                  <a:srgbClr val="FCFCFC"/>
                </a:highlight>
                <a:latin typeface="Times New Roman"/>
                <a:ea typeface="Times New Roman"/>
                <a:cs typeface="Times New Roman"/>
                <a:sym typeface="Times New Roman"/>
              </a:rPr>
            </a:br>
            <a:endParaRPr lang="en" sz="900">
              <a:solidFill>
                <a:srgbClr val="333333"/>
              </a:solidFill>
              <a:highlight>
                <a:srgbClr val="FCFCFC"/>
              </a:highlight>
              <a:latin typeface="Times New Roman"/>
              <a:ea typeface="Times New Roman"/>
              <a:cs typeface="Times New Roman"/>
              <a:sym typeface="Times New Roman"/>
            </a:endParaRPr>
          </a:p>
          <a:p>
            <a:pPr marL="457200" lvl="0" indent="-285750" rtl="0">
              <a:spcBef>
                <a:spcPts val="0"/>
              </a:spcBef>
              <a:buSzPct val="100000"/>
              <a:buFont typeface="Times New Roman"/>
              <a:buChar char="●"/>
            </a:pPr>
            <a:r>
              <a:rPr lang="en" sz="900">
                <a:latin typeface="Times New Roman"/>
                <a:ea typeface="Times New Roman"/>
                <a:cs typeface="Times New Roman"/>
                <a:sym typeface="Times New Roman"/>
              </a:rPr>
              <a:t>Osipov, Ilya V., Alex A. Volinsky, Evgeny Nikulchev, and Anna Y. Prasikova. "Online E-learning Application for Practicing Foreign Language Skills with Native Speakers." Technol Innov Educ Technology, Innovation and Education 2.1 (2016): n. pag. Web.</a:t>
            </a:r>
          </a:p>
          <a:p>
            <a:pPr marL="457200" lvl="0" indent="-285750" rtl="0">
              <a:spcBef>
                <a:spcPts val="0"/>
              </a:spcBef>
              <a:buSzPct val="100000"/>
              <a:buFont typeface="Times New Roman"/>
              <a:buChar char="●"/>
            </a:pPr>
            <a:r>
              <a:rPr lang="en" sz="900">
                <a:latin typeface="Times New Roman"/>
                <a:ea typeface="Times New Roman"/>
                <a:cs typeface="Times New Roman"/>
                <a:sym typeface="Times New Roman"/>
              </a:rPr>
              <a:t>J. Swacha, "Gamification in Enterprise Information Systems: What, why and how," </a:t>
            </a:r>
            <a:r>
              <a:rPr lang="en" sz="900" i="1">
                <a:latin typeface="Times New Roman"/>
                <a:ea typeface="Times New Roman"/>
                <a:cs typeface="Times New Roman"/>
                <a:sym typeface="Times New Roman"/>
              </a:rPr>
              <a:t>2016 Federated Conference on Computer Science and Information Systems (FedCSIS)</a:t>
            </a:r>
            <a:r>
              <a:rPr lang="en" sz="900">
                <a:latin typeface="Times New Roman"/>
                <a:ea typeface="Times New Roman"/>
                <a:cs typeface="Times New Roman"/>
                <a:sym typeface="Times New Roman"/>
              </a:rPr>
              <a:t>, Gdansk, Poland, 2016, pp. 1229-1233.keywords: {Bars;Dynamics;Games;Information systems;Productivity;Stress;Visualization}, </a:t>
            </a:r>
            <a:br>
              <a:rPr lang="en" sz="900">
                <a:latin typeface="Times New Roman"/>
                <a:ea typeface="Times New Roman"/>
                <a:cs typeface="Times New Roman"/>
                <a:sym typeface="Times New Roman"/>
              </a:rPr>
            </a:br>
            <a:r>
              <a:rPr lang="en" sz="900">
                <a:latin typeface="Times New Roman"/>
                <a:ea typeface="Times New Roman"/>
                <a:cs typeface="Times New Roman"/>
                <a:sym typeface="Times New Roman"/>
              </a:rPr>
              <a:t>URL: </a:t>
            </a:r>
            <a:r>
              <a:rPr lang="en" sz="900" u="sng">
                <a:latin typeface="Times New Roman"/>
                <a:ea typeface="Times New Roman"/>
                <a:cs typeface="Times New Roman"/>
                <a:sym typeface="Times New Roman"/>
                <a:hlinkClick r:id="rId3"/>
              </a:rPr>
              <a:t>http://ieeexplore.ieee.org/stamp/stamp.jsp?tp=&amp;arnumber=7733404&amp;isnumber=7733200</a:t>
            </a:r>
            <a:r>
              <a:rPr lang="en" sz="900">
                <a:highlight>
                  <a:srgbClr val="FCFCFC"/>
                </a:highlight>
                <a:latin typeface="Times New Roman"/>
                <a:ea typeface="Times New Roman"/>
                <a:cs typeface="Times New Roman"/>
                <a:sym typeface="Times New Roman"/>
              </a:rPr>
              <a:t/>
            </a:r>
            <a:br>
              <a:rPr lang="en" sz="900">
                <a:highlight>
                  <a:srgbClr val="FCFCFC"/>
                </a:highlight>
                <a:latin typeface="Times New Roman"/>
                <a:ea typeface="Times New Roman"/>
                <a:cs typeface="Times New Roman"/>
                <a:sym typeface="Times New Roman"/>
              </a:rPr>
            </a:br>
            <a:endParaRPr lang="en" sz="900">
              <a:highlight>
                <a:srgbClr val="FCFCFC"/>
              </a:highlight>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311700" y="445025"/>
            <a:ext cx="8520600" cy="572700"/>
          </a:xfrm>
          <a:prstGeom prst="rect">
            <a:avLst/>
          </a:prstGeom>
        </p:spPr>
        <p:txBody>
          <a:bodyPr lIns="91425" tIns="91425" rIns="91425" bIns="91425" anchor="t" anchorCtr="0">
            <a:noAutofit/>
          </a:bodyPr>
          <a:lstStyle/>
          <a:p>
            <a:pPr lvl="0" algn="ctr" rtl="0">
              <a:spcBef>
                <a:spcPts val="0"/>
              </a:spcBef>
              <a:buNone/>
            </a:pPr>
            <a:r>
              <a:rPr lang="en"/>
              <a:t>Bibliography</a:t>
            </a:r>
          </a:p>
        </p:txBody>
      </p:sp>
      <p:sp>
        <p:nvSpPr>
          <p:cNvPr id="187" name="Shape 187"/>
          <p:cNvSpPr txBox="1">
            <a:spLocks noGrp="1"/>
          </p:cNvSpPr>
          <p:nvPr>
            <p:ph type="body" idx="1"/>
          </p:nvPr>
        </p:nvSpPr>
        <p:spPr>
          <a:xfrm>
            <a:off x="311700" y="1152475"/>
            <a:ext cx="8520600" cy="3416400"/>
          </a:xfrm>
          <a:prstGeom prst="rect">
            <a:avLst/>
          </a:prstGeom>
        </p:spPr>
        <p:txBody>
          <a:bodyPr lIns="91425" tIns="91425" rIns="91425" bIns="91425" anchor="t" anchorCtr="0">
            <a:noAutofit/>
          </a:bodyPr>
          <a:lstStyle/>
          <a:p>
            <a:pPr marL="457200" lvl="0" indent="-292100" rtl="0">
              <a:lnSpc>
                <a:spcPct val="115000"/>
              </a:lnSpc>
              <a:spcBef>
                <a:spcPts val="0"/>
              </a:spcBef>
              <a:spcAft>
                <a:spcPts val="600"/>
              </a:spcAft>
              <a:buClr>
                <a:srgbClr val="434343"/>
              </a:buClr>
              <a:buSzPct val="100000"/>
              <a:buFont typeface="Times New Roman"/>
            </a:pPr>
            <a:r>
              <a:rPr lang="en" sz="1000">
                <a:solidFill>
                  <a:srgbClr val="434343"/>
                </a:solidFill>
                <a:latin typeface="Times New Roman"/>
                <a:ea typeface="Times New Roman"/>
                <a:cs typeface="Times New Roman"/>
                <a:sym typeface="Times New Roman"/>
              </a:rPr>
              <a:t>Juan Vargas-Enriquez, Lilia Garcia-Mundo, Marcela Genero, and Mario Piattini. 2015. A Systematic Mapping Study on Gamified Software Quality. 2015 7th International Conference on Games and Virtual Worlds for Serious Applications (VS-Games) (2015). DOI:http://dx.doi.org/10.1109/vs-games.2015.7295763</a:t>
            </a:r>
          </a:p>
        </p:txBody>
      </p:sp>
    </p:spTree>
  </p:cSld>
  <p:clrMapOvr>
    <a:masterClrMapping/>
  </p:clrMapOvr>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1296</Words>
  <Application>Microsoft Office PowerPoint</Application>
  <PresentationFormat>On-screen Show (16:9)</PresentationFormat>
  <Paragraphs>121</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Times New Roman</vt:lpstr>
      <vt:lpstr>simple-light-2</vt:lpstr>
      <vt:lpstr>Gamification</vt:lpstr>
      <vt:lpstr>Gamification and Non-Game Contexts</vt:lpstr>
      <vt:lpstr>“A systematic mapping study on gamified software quality”</vt:lpstr>
      <vt:lpstr>Search Criteria</vt:lpstr>
      <vt:lpstr>IEEE Digital Library</vt:lpstr>
      <vt:lpstr>Characteristics of Paper</vt:lpstr>
      <vt:lpstr>ScienceDirect eJournal Collection</vt:lpstr>
      <vt:lpstr>Characteristics of Paper</vt:lpstr>
      <vt:lpstr>SpringerLink</vt:lpstr>
      <vt:lpstr>Characteristics of Paper</vt:lpstr>
      <vt:lpstr>SpringerLink (con’t.)</vt:lpstr>
      <vt:lpstr>Characteristics of Paper</vt:lpstr>
      <vt:lpstr>ACM Digital Library</vt:lpstr>
      <vt:lpstr>Characteristics of Paper</vt:lpstr>
      <vt:lpstr>ACM Digital Library(con’t.)</vt:lpstr>
      <vt:lpstr>Characteristics of Paper</vt:lpstr>
      <vt:lpstr>Results</vt:lpstr>
      <vt:lpstr>Results</vt:lpstr>
      <vt:lpstr>Results</vt:lpstr>
      <vt:lpstr>Results</vt:lpstr>
      <vt:lpstr>Conclusion</vt:lpstr>
      <vt:lpstr>Bibliography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Gamification</dc:title>
  <dc:creator>Cotten, William K</dc:creator>
  <cp:lastModifiedBy>Cotten, William K</cp:lastModifiedBy>
  <cp:revision>2</cp:revision>
  <dcterms:modified xsi:type="dcterms:W3CDTF">2016-12-15T14:44:11Z</dcterms:modified>
</cp:coreProperties>
</file>