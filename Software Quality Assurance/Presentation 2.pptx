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9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 name="Shape 9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6" name="Shape 10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2" name="Shape 11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744575"/>
            <a:ext cx="8520600" cy="2052600"/>
          </a:xfrm>
          <a:prstGeom prst="rect">
            <a:avLst/>
          </a:prstGeom>
        </p:spPr>
        <p:txBody>
          <a:bodyPr lIns="91425" tIns="91425" rIns="91425" bIns="91425" anchor="b" anchorCtr="0">
            <a:noAutofit/>
          </a:bodyPr>
          <a:lstStyle/>
          <a:p>
            <a:pPr lvl="0" rtl="0">
              <a:spcBef>
                <a:spcPts val="0"/>
              </a:spcBef>
              <a:buClr>
                <a:schemeClr val="dk1"/>
              </a:buClr>
              <a:buSzPct val="25000"/>
              <a:buFont typeface="Arial"/>
              <a:buNone/>
            </a:pPr>
            <a:r>
              <a:rPr lang="en" sz="6000">
                <a:solidFill>
                  <a:schemeClr val="dk2"/>
                </a:solidFill>
              </a:rPr>
              <a:t>Gamification</a:t>
            </a:r>
          </a:p>
        </p:txBody>
      </p:sp>
      <p:sp>
        <p:nvSpPr>
          <p:cNvPr id="55" name="Shape 55"/>
          <p:cNvSpPr txBox="1">
            <a:spLocks noGrp="1"/>
          </p:cNvSpPr>
          <p:nvPr>
            <p:ph type="subTitle" idx="1"/>
          </p:nvPr>
        </p:nvSpPr>
        <p:spPr>
          <a:xfrm>
            <a:off x="311700" y="2834125"/>
            <a:ext cx="8520600" cy="792600"/>
          </a:xfrm>
          <a:prstGeom prst="rect">
            <a:avLst/>
          </a:prstGeom>
        </p:spPr>
        <p:txBody>
          <a:bodyPr lIns="91425" tIns="91425" rIns="91425" bIns="91425" anchor="t" anchorCtr="0">
            <a:noAutofit/>
          </a:bodyPr>
          <a:lstStyle/>
          <a:p>
            <a:pPr lvl="0" rtl="0">
              <a:spcBef>
                <a:spcPts val="0"/>
              </a:spcBef>
              <a:buNone/>
            </a:pPr>
            <a:r>
              <a:rPr lang="en" sz="1800"/>
              <a:t>By: William Cotten, Samuel Faulkner, and Trenton Scott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340825"/>
            <a:ext cx="8520600" cy="572700"/>
          </a:xfrm>
          <a:prstGeom prst="rect">
            <a:avLst/>
          </a:prstGeom>
        </p:spPr>
        <p:txBody>
          <a:bodyPr lIns="91425" tIns="91425" rIns="91425" bIns="91425" anchor="t" anchorCtr="0">
            <a:noAutofit/>
          </a:bodyPr>
          <a:lstStyle/>
          <a:p>
            <a:pPr lvl="0" algn="ctr" rtl="0">
              <a:spcBef>
                <a:spcPts val="0"/>
              </a:spcBef>
              <a:buNone/>
            </a:pPr>
            <a:r>
              <a:rPr lang="en"/>
              <a:t>Gamification and Non-Game Contexts</a:t>
            </a:r>
          </a:p>
        </p:txBody>
      </p:sp>
      <p:sp>
        <p:nvSpPr>
          <p:cNvPr id="61" name="Shape 61"/>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rtl="0">
              <a:spcBef>
                <a:spcPts val="0"/>
              </a:spcBef>
              <a:buNone/>
            </a:pPr>
            <a:r>
              <a:rPr lang="en"/>
              <a:t> </a:t>
            </a:r>
            <a:r>
              <a:rPr lang="en" b="1" u="sng"/>
              <a:t>Gamification:</a:t>
            </a:r>
            <a:r>
              <a:rPr lang="en"/>
              <a:t> The use of game design elements in non-game contexts</a:t>
            </a:r>
          </a:p>
          <a:p>
            <a:pPr lvl="0" rtl="0">
              <a:spcBef>
                <a:spcPts val="0"/>
              </a:spcBef>
              <a:buNone/>
            </a:pPr>
            <a:r>
              <a:rPr lang="en"/>
              <a:t>Examples of non-game contexts:</a:t>
            </a:r>
          </a:p>
          <a:p>
            <a:pPr marL="457200" lvl="0" indent="-228600" rtl="0">
              <a:spcBef>
                <a:spcPts val="0"/>
              </a:spcBef>
              <a:buChar char="●"/>
            </a:pPr>
            <a:r>
              <a:rPr lang="en"/>
              <a:t>Crowdsourcing, social networks, loyalty programs, marketing, education, etc.</a:t>
            </a:r>
          </a:p>
          <a:p>
            <a:pPr marL="914400" lvl="1" indent="-228600" rtl="0">
              <a:spcBef>
                <a:spcPts val="0"/>
              </a:spcBef>
              <a:buChar char="○"/>
            </a:pPr>
            <a:r>
              <a:rPr lang="en"/>
              <a:t>Education - Duolingo application</a:t>
            </a:r>
          </a:p>
          <a:p>
            <a:pPr marL="914400" lvl="1" indent="-228600" rtl="0">
              <a:spcBef>
                <a:spcPts val="0"/>
              </a:spcBef>
              <a:buChar char="○"/>
            </a:pPr>
            <a:r>
              <a:rPr lang="en"/>
              <a:t>Loyalty Programs - Cell phone providers</a:t>
            </a:r>
          </a:p>
          <a:p>
            <a:pPr marL="914400" lvl="1" indent="-228600" rtl="0">
              <a:spcBef>
                <a:spcPts val="0"/>
              </a:spcBef>
              <a:buChar char="○"/>
            </a:pPr>
            <a:r>
              <a:rPr lang="en"/>
              <a:t>Marketing/Crowdsourcing - U.S. Army simulation game</a:t>
            </a:r>
          </a:p>
          <a:p>
            <a:pPr lvl="0" rtl="0">
              <a:spcBef>
                <a:spcPts val="0"/>
              </a:spcBef>
              <a:buNone/>
            </a:pPr>
            <a:endParaRPr/>
          </a:p>
          <a:p>
            <a:pPr lvl="0" rtl="0">
              <a:spcBef>
                <a:spcPts val="0"/>
              </a:spcBef>
              <a:buNone/>
            </a:pPr>
            <a:endParaRPr/>
          </a:p>
          <a:p>
            <a:pPr lvl="0" rtl="0">
              <a:spcBef>
                <a:spcPts val="0"/>
              </a:spcBef>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 calcmode="lin" valueType="num">
                                      <p:cBhvr additive="base">
                                        <p:cTn id="7" dur="1000"/>
                                        <p:tgtEl>
                                          <p:spTgt spid="6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
                                            <p:txEl>
                                              <p:pRg st="1" end="1"/>
                                            </p:txEl>
                                          </p:spTgt>
                                        </p:tgtEl>
                                        <p:attrNameLst>
                                          <p:attrName>style.visibility</p:attrName>
                                        </p:attrNameLst>
                                      </p:cBhvr>
                                      <p:to>
                                        <p:strVal val="visible"/>
                                      </p:to>
                                    </p:set>
                                    <p:anim calcmode="lin" valueType="num">
                                      <p:cBhvr additive="base">
                                        <p:cTn id="12" dur="1000"/>
                                        <p:tgtEl>
                                          <p:spTgt spid="6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1">
                                            <p:txEl>
                                              <p:pRg st="2" end="2"/>
                                            </p:txEl>
                                          </p:spTgt>
                                        </p:tgtEl>
                                        <p:attrNameLst>
                                          <p:attrName>style.visibility</p:attrName>
                                        </p:attrNameLst>
                                      </p:cBhvr>
                                      <p:to>
                                        <p:strVal val="visible"/>
                                      </p:to>
                                    </p:set>
                                    <p:anim calcmode="lin" valueType="num">
                                      <p:cBhvr additive="base">
                                        <p:cTn id="17" dur="1000"/>
                                        <p:tgtEl>
                                          <p:spTgt spid="6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1">
                                            <p:txEl>
                                              <p:pRg st="3" end="3"/>
                                            </p:txEl>
                                          </p:spTgt>
                                        </p:tgtEl>
                                        <p:attrNameLst>
                                          <p:attrName>style.visibility</p:attrName>
                                        </p:attrNameLst>
                                      </p:cBhvr>
                                      <p:to>
                                        <p:strVal val="visible"/>
                                      </p:to>
                                    </p:set>
                                    <p:anim calcmode="lin" valueType="num">
                                      <p:cBhvr additive="base">
                                        <p:cTn id="22" dur="1000"/>
                                        <p:tgtEl>
                                          <p:spTgt spid="6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1">
                                            <p:txEl>
                                              <p:pRg st="4" end="4"/>
                                            </p:txEl>
                                          </p:spTgt>
                                        </p:tgtEl>
                                        <p:attrNameLst>
                                          <p:attrName>style.visibility</p:attrName>
                                        </p:attrNameLst>
                                      </p:cBhvr>
                                      <p:to>
                                        <p:strVal val="visible"/>
                                      </p:to>
                                    </p:set>
                                    <p:anim calcmode="lin" valueType="num">
                                      <p:cBhvr additive="base">
                                        <p:cTn id="27" dur="1000"/>
                                        <p:tgtEl>
                                          <p:spTgt spid="6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1">
                                            <p:txEl>
                                              <p:pRg st="5" end="5"/>
                                            </p:txEl>
                                          </p:spTgt>
                                        </p:tgtEl>
                                        <p:attrNameLst>
                                          <p:attrName>style.visibility</p:attrName>
                                        </p:attrNameLst>
                                      </p:cBhvr>
                                      <p:to>
                                        <p:strVal val="visible"/>
                                      </p:to>
                                    </p:set>
                                    <p:anim calcmode="lin" valueType="num">
                                      <p:cBhvr additive="base">
                                        <p:cTn id="32" dur="1000"/>
                                        <p:tgtEl>
                                          <p:spTgt spid="6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1">
                                            <p:txEl>
                                              <p:pRg st="6" end="6"/>
                                            </p:txEl>
                                          </p:spTgt>
                                        </p:tgtEl>
                                        <p:attrNameLst>
                                          <p:attrName>style.visibility</p:attrName>
                                        </p:attrNameLst>
                                      </p:cBhvr>
                                      <p:to>
                                        <p:strVal val="visible"/>
                                      </p:to>
                                    </p:set>
                                    <p:anim calcmode="lin" valueType="num">
                                      <p:cBhvr additive="base">
                                        <p:cTn id="37" dur="1000"/>
                                        <p:tgtEl>
                                          <p:spTgt spid="6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61">
                                            <p:txEl>
                                              <p:pRg st="7" end="7"/>
                                            </p:txEl>
                                          </p:spTgt>
                                        </p:tgtEl>
                                        <p:attrNameLst>
                                          <p:attrName>style.visibility</p:attrName>
                                        </p:attrNameLst>
                                      </p:cBhvr>
                                      <p:to>
                                        <p:strVal val="visible"/>
                                      </p:to>
                                    </p:set>
                                    <p:anim calcmode="lin" valueType="num">
                                      <p:cBhvr additive="base">
                                        <p:cTn id="42" dur="1000"/>
                                        <p:tgtEl>
                                          <p:spTgt spid="6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61">
                                            <p:txEl>
                                              <p:pRg st="8" end="8"/>
                                            </p:txEl>
                                          </p:spTgt>
                                        </p:tgtEl>
                                        <p:attrNameLst>
                                          <p:attrName>style.visibility</p:attrName>
                                        </p:attrNameLst>
                                      </p:cBhvr>
                                      <p:to>
                                        <p:strVal val="visible"/>
                                      </p:to>
                                    </p:set>
                                    <p:anim calcmode="lin" valueType="num">
                                      <p:cBhvr additive="base">
                                        <p:cTn id="47" dur="1000"/>
                                        <p:tgtEl>
                                          <p:spTgt spid="61">
                                            <p:txEl>
                                              <p:pRg st="8" end="8"/>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445025"/>
            <a:ext cx="8520600" cy="1079100"/>
          </a:xfrm>
          <a:prstGeom prst="rect">
            <a:avLst/>
          </a:prstGeom>
        </p:spPr>
        <p:txBody>
          <a:bodyPr lIns="91425" tIns="91425" rIns="91425" bIns="91425" anchor="t" anchorCtr="0">
            <a:noAutofit/>
          </a:bodyPr>
          <a:lstStyle/>
          <a:p>
            <a:pPr lvl="0" algn="ctr" rtl="0">
              <a:spcBef>
                <a:spcPts val="0"/>
              </a:spcBef>
              <a:buNone/>
            </a:pPr>
            <a:r>
              <a:rPr lang="en" sz="3300"/>
              <a:t>“A systematic mapping study on gamified software quality”</a:t>
            </a:r>
          </a:p>
        </p:txBody>
      </p:sp>
      <p:sp>
        <p:nvSpPr>
          <p:cNvPr id="67" name="Shape 67"/>
          <p:cNvSpPr txBox="1">
            <a:spLocks noGrp="1"/>
          </p:cNvSpPr>
          <p:nvPr>
            <p:ph type="body" idx="1"/>
          </p:nvPr>
        </p:nvSpPr>
        <p:spPr>
          <a:xfrm>
            <a:off x="311700" y="1901750"/>
            <a:ext cx="8520600" cy="2667000"/>
          </a:xfrm>
          <a:prstGeom prst="rect">
            <a:avLst/>
          </a:prstGeom>
        </p:spPr>
        <p:txBody>
          <a:bodyPr lIns="91425" tIns="91425" rIns="91425" bIns="91425" anchor="t" anchorCtr="0">
            <a:noAutofit/>
          </a:bodyPr>
          <a:lstStyle/>
          <a:p>
            <a:pPr lvl="0" rtl="0">
              <a:spcBef>
                <a:spcPts val="0"/>
              </a:spcBef>
              <a:buNone/>
            </a:pPr>
            <a:endParaRPr/>
          </a:p>
          <a:p>
            <a:pPr marL="457200" lvl="0" indent="-228600" rtl="0">
              <a:spcBef>
                <a:spcPts val="0"/>
              </a:spcBef>
              <a:buChar char="●"/>
            </a:pPr>
            <a:r>
              <a:rPr lang="en"/>
              <a:t>A systematic mapping study is the study of the status of current studies on a given topic.</a:t>
            </a:r>
          </a:p>
          <a:p>
            <a:pPr marL="457200" lvl="0" indent="-228600" rtl="0">
              <a:spcBef>
                <a:spcPts val="0"/>
              </a:spcBef>
              <a:buChar char="●"/>
            </a:pPr>
            <a:r>
              <a:rPr lang="en"/>
              <a:t>The purpose is to discover what areas need further work and research in gamification.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445025"/>
            <a:ext cx="8520600" cy="1079100"/>
          </a:xfrm>
          <a:prstGeom prst="rect">
            <a:avLst/>
          </a:prstGeom>
        </p:spPr>
        <p:txBody>
          <a:bodyPr lIns="91425" tIns="91425" rIns="91425" bIns="91425" anchor="t" anchorCtr="0">
            <a:noAutofit/>
          </a:bodyPr>
          <a:lstStyle/>
          <a:p>
            <a:pPr lvl="0" algn="ctr" rtl="0">
              <a:spcBef>
                <a:spcPts val="0"/>
              </a:spcBef>
              <a:buNone/>
            </a:pPr>
            <a:r>
              <a:rPr lang="en" sz="3300"/>
              <a:t>Search Criteria</a:t>
            </a:r>
          </a:p>
        </p:txBody>
      </p:sp>
      <p:sp>
        <p:nvSpPr>
          <p:cNvPr id="73" name="Shape 73"/>
          <p:cNvSpPr txBox="1">
            <a:spLocks noGrp="1"/>
          </p:cNvSpPr>
          <p:nvPr>
            <p:ph type="body" idx="1"/>
          </p:nvPr>
        </p:nvSpPr>
        <p:spPr>
          <a:xfrm>
            <a:off x="311700" y="1524125"/>
            <a:ext cx="8520600" cy="3012900"/>
          </a:xfrm>
          <a:prstGeom prst="rect">
            <a:avLst/>
          </a:prstGeom>
        </p:spPr>
        <p:txBody>
          <a:bodyPr lIns="91425" tIns="91425" rIns="91425" bIns="91425" anchor="t" anchorCtr="0">
            <a:noAutofit/>
          </a:bodyPr>
          <a:lstStyle/>
          <a:p>
            <a:pPr lvl="0" rtl="0">
              <a:spcBef>
                <a:spcPts val="0"/>
              </a:spcBef>
              <a:buNone/>
            </a:pPr>
            <a:r>
              <a:rPr lang="en"/>
              <a:t>Online Resources</a:t>
            </a:r>
          </a:p>
          <a:p>
            <a:pPr marL="457200" lvl="0" indent="-228600" rtl="0">
              <a:spcBef>
                <a:spcPts val="0"/>
              </a:spcBef>
              <a:buChar char="●"/>
            </a:pPr>
            <a:r>
              <a:rPr lang="en"/>
              <a:t> Scopus, Science@Direct, IEEE Digital Library, ACM Digital Library, and Springer.</a:t>
            </a:r>
          </a:p>
          <a:p>
            <a:pPr lvl="0">
              <a:spcBef>
                <a:spcPts val="0"/>
              </a:spcBef>
              <a:buNone/>
            </a:pPr>
            <a:r>
              <a:rPr lang="en"/>
              <a:t>Search Criteria</a:t>
            </a:r>
          </a:p>
          <a:p>
            <a:pPr marL="457200" lvl="0" indent="-228600" rtl="0">
              <a:spcBef>
                <a:spcPts val="0"/>
              </a:spcBef>
              <a:buChar char="●"/>
            </a:pPr>
            <a:r>
              <a:rPr lang="en"/>
              <a:t>Evaluation (evaluat* OR assess* OR measur* OR test*)</a:t>
            </a:r>
          </a:p>
          <a:p>
            <a:pPr marL="457200" lvl="0" indent="-228600" rtl="0">
              <a:spcBef>
                <a:spcPts val="0"/>
              </a:spcBef>
              <a:buChar char="●"/>
            </a:pPr>
            <a:r>
              <a:rPr lang="en"/>
              <a:t>Gamification (gamif* OR gameif* OR ludif* OR “funware”)</a:t>
            </a:r>
          </a:p>
          <a:p>
            <a:pPr lvl="0" rtl="0">
              <a:spcBef>
                <a:spcPts val="0"/>
              </a:spcBef>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IEEE Digital Library</a:t>
            </a:r>
          </a:p>
        </p:txBody>
      </p:sp>
      <p:sp>
        <p:nvSpPr>
          <p:cNvPr id="79" name="Shape 79"/>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rtl="0">
              <a:spcBef>
                <a:spcPts val="0"/>
              </a:spcBef>
              <a:buNone/>
            </a:pPr>
            <a:r>
              <a:rPr lang="en"/>
              <a:t>Results: 45 papers found that contain “gamification.”</a:t>
            </a:r>
          </a:p>
          <a:p>
            <a:pPr marL="457200" lvl="0" indent="-317500" rtl="0">
              <a:spcBef>
                <a:spcPts val="0"/>
              </a:spcBef>
              <a:buSzPct val="100000"/>
              <a:buChar char="●"/>
            </a:pPr>
            <a:r>
              <a:rPr lang="en" sz="1400"/>
              <a:t>Paper: Gamification in Enterprise Information Systems: What, Why and How</a:t>
            </a:r>
          </a:p>
          <a:p>
            <a:pPr marL="457200" lvl="0" indent="-317500" rtl="0">
              <a:spcBef>
                <a:spcPts val="0"/>
              </a:spcBef>
              <a:buSzPct val="100000"/>
              <a:buChar char="●"/>
            </a:pPr>
            <a:r>
              <a:rPr lang="en" sz="1400"/>
              <a:t>Summary: A review of how Gamification can be applied to business practices and application. This research paper highlights the importance and benefit of gamification in the work environment and things to pay attention to (as an employer) during implementation. </a:t>
            </a:r>
          </a:p>
          <a:p>
            <a:pPr marL="457200" lvl="0" indent="-317500" rtl="0">
              <a:spcBef>
                <a:spcPts val="0"/>
              </a:spcBef>
              <a:buSzPct val="100000"/>
              <a:buChar char="●"/>
            </a:pPr>
            <a:r>
              <a:rPr lang="en" sz="1400"/>
              <a:t>Findings: Gamification has the opportunity to improve work environments by eliminating stress and tension due to using game like tactics to complete tasks. Gamification (in study) could increase performance, attitude, social relations, and training activities. In a younger generation that has adapted to game like tactics already, gamification provides the opportunity to excel in the workplace.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85" name="Shape 85"/>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Leaderboards, Progression bars, Elitism, Friending, Group Questing, Moats (Improving on weakness).</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Usability-User interface aesthetics</a:t>
            </a:r>
          </a:p>
          <a:p>
            <a:pPr marL="457200" lvl="0" indent="-228600" rtl="0">
              <a:spcBef>
                <a:spcPts val="0"/>
              </a:spcBef>
              <a:buChar char="●"/>
            </a:pPr>
            <a:r>
              <a:rPr lang="en" sz="1400" b="1" dirty="0"/>
              <a:t>Qualities in Engagement: </a:t>
            </a:r>
            <a:r>
              <a:rPr lang="en" sz="1400" dirty="0"/>
              <a:t>Participation, Performance, Communication, and Frequency of Achievements</a:t>
            </a:r>
          </a:p>
          <a:p>
            <a:pPr marL="457200" lvl="0" indent="-228600" rtl="0">
              <a:spcBef>
                <a:spcPts val="0"/>
              </a:spcBef>
              <a:buChar char="●"/>
            </a:pPr>
            <a:r>
              <a:rPr lang="en" sz="1400" b="1" dirty="0"/>
              <a:t>Research Method:</a:t>
            </a:r>
            <a:r>
              <a:rPr lang="en" sz="1400" dirty="0"/>
              <a:t> Theoretical </a:t>
            </a:r>
          </a:p>
          <a:p>
            <a:pPr marL="457200" lvl="0" indent="-228600" rtl="0">
              <a:spcBef>
                <a:spcPts val="0"/>
              </a:spcBef>
              <a:buChar char="●"/>
            </a:pPr>
            <a:r>
              <a:rPr lang="en" sz="1400" b="1" dirty="0"/>
              <a:t>Application Area:</a:t>
            </a:r>
            <a:r>
              <a:rPr lang="en" sz="1400" dirty="0"/>
              <a:t>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None/>
            </a:pPr>
            <a:r>
              <a:rPr lang="en"/>
              <a:t>SpringerLink</a:t>
            </a:r>
          </a:p>
        </p:txBody>
      </p:sp>
      <p:sp>
        <p:nvSpPr>
          <p:cNvPr id="91" name="Shape 91"/>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a:spcBef>
                <a:spcPts val="0"/>
              </a:spcBef>
              <a:buNone/>
            </a:pPr>
            <a:r>
              <a:rPr lang="en"/>
              <a:t>Results: 120 papers found</a:t>
            </a:r>
          </a:p>
          <a:p>
            <a:pPr marL="457200" lvl="0" indent="-317500" rtl="0">
              <a:spcBef>
                <a:spcPts val="0"/>
              </a:spcBef>
              <a:buSzPct val="100000"/>
              <a:buChar char="●"/>
            </a:pPr>
            <a:r>
              <a:rPr lang="en" sz="1400"/>
              <a:t>Paper: Online e-learning application for practicing foreign language skills with native speakers</a:t>
            </a:r>
          </a:p>
          <a:p>
            <a:pPr marL="457200" lvl="0" indent="-317500" rtl="0">
              <a:spcBef>
                <a:spcPts val="0"/>
              </a:spcBef>
              <a:buSzPct val="100000"/>
              <a:buChar char="●"/>
            </a:pPr>
            <a:r>
              <a:rPr lang="en" sz="1400"/>
              <a:t>Summary: An online learning web-based application called i2istudy helps people that want to speak foreign languages or keep up with current languages talk with real people through webcams. This application uses gamification </a:t>
            </a:r>
          </a:p>
          <a:p>
            <a:pPr marL="457200" lvl="0" indent="-317500" rtl="0">
              <a:spcBef>
                <a:spcPts val="0"/>
              </a:spcBef>
              <a:buSzPct val="100000"/>
              <a:buChar char="●"/>
            </a:pPr>
            <a:r>
              <a:rPr lang="en" sz="1400"/>
              <a:t>Findings: About 40,000 users registered for this system, mostly to learn English. Only 20% of those users actually made a call because the rest were too shy to talk with strangers, or they didn’t want to spend the time they had. The average call after a few months came to be about 14.4 minutes.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None/>
            </a:pPr>
            <a:r>
              <a:rPr lang="en"/>
              <a:t>Characteristics of Paper</a:t>
            </a:r>
          </a:p>
        </p:txBody>
      </p:sp>
      <p:sp>
        <p:nvSpPr>
          <p:cNvPr id="97" name="Shape 97"/>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Time banking, unlocking lessons, points in form of starts, achievements/badges, peer evaluation.</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a:t>
            </a:r>
          </a:p>
          <a:p>
            <a:pPr marL="457200" lvl="0" indent="-228600" rtl="0">
              <a:spcBef>
                <a:spcPts val="0"/>
              </a:spcBef>
              <a:buChar char="●"/>
            </a:pPr>
            <a:r>
              <a:rPr lang="en" sz="1400" b="1" dirty="0"/>
              <a:t>Qualities in Engagement: </a:t>
            </a:r>
            <a:r>
              <a:rPr lang="en" sz="1400" dirty="0"/>
              <a:t>Participation, Performance, Communication, and Frequency of Achievements</a:t>
            </a:r>
          </a:p>
          <a:p>
            <a:pPr marL="457200" lvl="0" indent="-228600" rtl="0">
              <a:spcBef>
                <a:spcPts val="0"/>
              </a:spcBef>
              <a:buChar char="●"/>
            </a:pPr>
            <a:r>
              <a:rPr lang="en" sz="1400" b="1" dirty="0"/>
              <a:t>Research Method:</a:t>
            </a:r>
            <a:r>
              <a:rPr lang="en" sz="1400" dirty="0"/>
              <a:t> Experiment</a:t>
            </a:r>
          </a:p>
          <a:p>
            <a:pPr marL="457200" lvl="0" indent="-228600">
              <a:spcBef>
                <a:spcPts val="0"/>
              </a:spcBef>
              <a:buChar char="●"/>
            </a:pPr>
            <a:r>
              <a:rPr lang="en" sz="1400" b="1" dirty="0"/>
              <a:t>Application Area:</a:t>
            </a:r>
            <a:r>
              <a:rPr lang="en" sz="1400" dirty="0"/>
              <a:t> Education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xfrm>
            <a:off x="311700" y="445025"/>
            <a:ext cx="8520600" cy="674700"/>
          </a:xfrm>
          <a:prstGeom prst="rect">
            <a:avLst/>
          </a:prstGeom>
        </p:spPr>
        <p:txBody>
          <a:bodyPr lIns="91425" tIns="91425" rIns="91425" bIns="91425" anchor="t" anchorCtr="0">
            <a:noAutofit/>
          </a:bodyPr>
          <a:lstStyle/>
          <a:p>
            <a:pPr lvl="0" algn="ctr" rtl="0">
              <a:spcBef>
                <a:spcPts val="0"/>
              </a:spcBef>
              <a:buNone/>
            </a:pPr>
            <a:r>
              <a:rPr lang="en"/>
              <a:t>ACM Digital Library</a:t>
            </a:r>
          </a:p>
        </p:txBody>
      </p:sp>
      <p:sp>
        <p:nvSpPr>
          <p:cNvPr id="103" name="Shape 103"/>
          <p:cNvSpPr txBox="1">
            <a:spLocks noGrp="1"/>
          </p:cNvSpPr>
          <p:nvPr>
            <p:ph type="body" idx="1"/>
          </p:nvPr>
        </p:nvSpPr>
        <p:spPr>
          <a:xfrm>
            <a:off x="311700" y="1255850"/>
            <a:ext cx="8520600" cy="3059700"/>
          </a:xfrm>
          <a:prstGeom prst="rect">
            <a:avLst/>
          </a:prstGeom>
        </p:spPr>
        <p:txBody>
          <a:bodyPr lIns="91425" tIns="91425" rIns="91425" bIns="91425" anchor="t" anchorCtr="0">
            <a:noAutofit/>
          </a:bodyPr>
          <a:lstStyle/>
          <a:p>
            <a:pPr lvl="0">
              <a:spcBef>
                <a:spcPts val="0"/>
              </a:spcBef>
              <a:buClr>
                <a:schemeClr val="dk1"/>
              </a:buClr>
              <a:buSzPct val="78571"/>
              <a:buFont typeface="Arial"/>
              <a:buNone/>
            </a:pPr>
            <a:r>
              <a:rPr lang="en"/>
              <a:t>Results: </a:t>
            </a:r>
            <a:r>
              <a:rPr lang="en" sz="1400"/>
              <a:t>32 papers found</a:t>
            </a:r>
          </a:p>
          <a:p>
            <a:pPr marL="457200" lvl="0" indent="-317500" rtl="0">
              <a:spcBef>
                <a:spcPts val="0"/>
              </a:spcBef>
              <a:buSzPct val="100000"/>
              <a:buChar char="●"/>
            </a:pPr>
            <a:r>
              <a:rPr lang="en" sz="1400"/>
              <a:t>Paper : Deconstructing gamification: Evaluating the effectiveness of continuous measurement, virtual rewards and social comparison for promoting physical activity</a:t>
            </a:r>
          </a:p>
          <a:p>
            <a:pPr marL="457200" lvl="0" indent="-317500" rtl="0">
              <a:spcBef>
                <a:spcPts val="0"/>
              </a:spcBef>
              <a:buSzPct val="100000"/>
              <a:buChar char="●"/>
            </a:pPr>
            <a:r>
              <a:rPr lang="en" sz="1400"/>
              <a:t>Summary: Gamified fitness software called Step-By-Step is evaluated to determine the effectiveness of gamification vs quantified versions of the software.</a:t>
            </a:r>
          </a:p>
          <a:p>
            <a:pPr lvl="0" rtl="0">
              <a:spcBef>
                <a:spcPts val="0"/>
              </a:spcBef>
              <a:buNone/>
            </a:pPr>
            <a:endParaRPr/>
          </a:p>
          <a:p>
            <a:pPr lvl="0" rtl="0">
              <a:spcBef>
                <a:spcPts val="0"/>
              </a:spcBef>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109" name="Shape 109"/>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Points, Leaderboard</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a:t>
            </a:r>
          </a:p>
          <a:p>
            <a:pPr marL="457200" lvl="0" indent="-228600" rtl="0">
              <a:spcBef>
                <a:spcPts val="0"/>
              </a:spcBef>
              <a:buChar char="●"/>
            </a:pPr>
            <a:r>
              <a:rPr lang="en" sz="1400" b="1" dirty="0"/>
              <a:t>Qualities in Engagement: </a:t>
            </a:r>
            <a:r>
              <a:rPr lang="en" sz="1400" dirty="0"/>
              <a:t>Participation, Performance </a:t>
            </a:r>
          </a:p>
          <a:p>
            <a:pPr marL="457200" lvl="0" indent="-228600" rtl="0">
              <a:spcBef>
                <a:spcPts val="0"/>
              </a:spcBef>
              <a:buChar char="●"/>
            </a:pPr>
            <a:r>
              <a:rPr lang="en" sz="1400" b="1" dirty="0"/>
              <a:t>Research Method:</a:t>
            </a:r>
            <a:r>
              <a:rPr lang="en" sz="1400" dirty="0"/>
              <a:t> Experiment</a:t>
            </a:r>
          </a:p>
          <a:p>
            <a:pPr marL="457200" lvl="0" indent="-228600" rtl="0">
              <a:spcBef>
                <a:spcPts val="0"/>
              </a:spcBef>
              <a:buChar char="●"/>
            </a:pPr>
            <a:r>
              <a:rPr lang="en" sz="1400" b="1" dirty="0"/>
              <a:t>Application Area:</a:t>
            </a:r>
            <a:r>
              <a:rPr lang="en" sz="1400" dirty="0"/>
              <a:t>Fitness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Shape 11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Bibliography</a:t>
            </a:r>
          </a:p>
        </p:txBody>
      </p:sp>
      <p:sp>
        <p:nvSpPr>
          <p:cNvPr id="115" name="Shape 115"/>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304800" rtl="0">
              <a:spcBef>
                <a:spcPts val="0"/>
              </a:spcBef>
              <a:buClr>
                <a:srgbClr val="333333"/>
              </a:buClr>
              <a:buSzPct val="100000"/>
              <a:buFont typeface="Times New Roman"/>
              <a:buChar char="●"/>
            </a:pPr>
            <a:r>
              <a:rPr lang="en" sz="1200" dirty="0">
                <a:solidFill>
                  <a:srgbClr val="333333"/>
                </a:solidFill>
                <a:highlight>
                  <a:srgbClr val="FCFCFC"/>
                </a:highlight>
                <a:latin typeface="Times New Roman"/>
                <a:ea typeface="Times New Roman"/>
                <a:cs typeface="Times New Roman"/>
                <a:sym typeface="Times New Roman"/>
              </a:rPr>
              <a:t>Gal-Oz, Ayelet., Zuckerman, Oren. “Deconstructing gamification: Evaluating the effectiveness of continuous measurement, virtual rewards and social comparison for promoting physical activity.” Personal and Ubiquitous Computing, vol. 18, issue 7, 2014, 1705-1719.</a:t>
            </a:r>
          </a:p>
          <a:p>
            <a:pPr marL="457200" indent="-304800">
              <a:buClr>
                <a:srgbClr val="333333"/>
              </a:buClr>
              <a:buFont typeface="Times New Roman"/>
              <a:buChar char="●"/>
            </a:pPr>
            <a:r>
              <a:rPr lang="en" sz="1200" dirty="0">
                <a:latin typeface="Times New Roman"/>
                <a:ea typeface="Times New Roman"/>
                <a:cs typeface="Times New Roman"/>
                <a:sym typeface="Times New Roman"/>
              </a:rPr>
              <a:t>J. Swacha, "Gamification in Enterprise Information Systems: What, why and how," </a:t>
            </a:r>
            <a:r>
              <a:rPr lang="en" sz="1200" i="1" dirty="0">
                <a:latin typeface="Times New Roman"/>
                <a:ea typeface="Times New Roman"/>
                <a:cs typeface="Times New Roman"/>
                <a:sym typeface="Times New Roman"/>
              </a:rPr>
              <a:t>2016 Federated Conference on Computer Science and Information Systems (FedCSIS)</a:t>
            </a:r>
            <a:r>
              <a:rPr lang="en" sz="1200" dirty="0">
                <a:latin typeface="Times New Roman"/>
                <a:ea typeface="Times New Roman"/>
                <a:cs typeface="Times New Roman"/>
                <a:sym typeface="Times New Roman"/>
              </a:rPr>
              <a:t>, Gdansk, Poland, 2016, pp. 1229-1233.keywords: {Bars;Dynamics;Games;Information systems;Productivity;Stress;Visualization}, </a:t>
            </a:r>
            <a:br>
              <a:rPr lang="en" sz="1200" dirty="0">
                <a:latin typeface="Times New Roman"/>
                <a:ea typeface="Times New Roman"/>
                <a:cs typeface="Times New Roman"/>
                <a:sym typeface="Times New Roman"/>
              </a:rPr>
            </a:br>
            <a:r>
              <a:rPr lang="en" sz="1200" dirty="0">
                <a:latin typeface="Times New Roman"/>
                <a:ea typeface="Times New Roman"/>
                <a:cs typeface="Times New Roman"/>
                <a:sym typeface="Times New Roman"/>
              </a:rPr>
              <a:t>URL: </a:t>
            </a:r>
            <a:r>
              <a:rPr lang="en" sz="1200" u="sng" dirty="0">
                <a:latin typeface="Times New Roman"/>
                <a:ea typeface="Times New Roman"/>
                <a:cs typeface="Times New Roman"/>
                <a:sym typeface="Times New Roman"/>
              </a:rPr>
              <a:t>http://ieeexplore.ieee.org/stamp/stamp.jsp?tp</a:t>
            </a:r>
            <a:r>
              <a:rPr lang="en" sz="1200" u="sng">
                <a:latin typeface="Times New Roman"/>
                <a:ea typeface="Times New Roman"/>
                <a:cs typeface="Times New Roman"/>
                <a:sym typeface="Times New Roman"/>
              </a:rPr>
              <a:t>=&amp;arnumber=7733404&amp;isnumber=7733200</a:t>
            </a:r>
            <a:endParaRPr lang="en" sz="1200" dirty="0">
              <a:latin typeface="Times New Roman"/>
              <a:ea typeface="Times New Roman"/>
              <a:cs typeface="Times New Roman"/>
              <a:sym typeface="Times New Roman"/>
            </a:endParaRPr>
          </a:p>
          <a:p>
            <a:pPr marL="457200" lvl="0" indent="-304800" rtl="0">
              <a:spcBef>
                <a:spcPts val="0"/>
              </a:spcBef>
              <a:buSzPct val="100000"/>
              <a:buFont typeface="Times New Roman"/>
              <a:buChar char="●"/>
            </a:pPr>
            <a:r>
              <a:rPr lang="en" sz="1200" dirty="0">
                <a:latin typeface="Times New Roman"/>
                <a:ea typeface="Times New Roman"/>
                <a:cs typeface="Times New Roman"/>
                <a:sym typeface="Times New Roman"/>
              </a:rPr>
              <a:t>Osipov, Ilya V., Alex A. Volinsky, Evgeny Nikulchev, and Anna Y. Prasikova. "Online E-learning Application for Practicing Foreign Language Skills with Native Speakers." Technol Innov Educ Technology, Innovation and Education 2.1 (2016): n. pag. Web.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Contribution to Final Paper</a:t>
            </a:r>
          </a:p>
        </p:txBody>
      </p:sp>
      <p:sp>
        <p:nvSpPr>
          <p:cNvPr id="121" name="Shape 121"/>
          <p:cNvSpPr txBox="1">
            <a:spLocks noGrp="1"/>
          </p:cNvSpPr>
          <p:nvPr>
            <p:ph type="body" idx="1"/>
          </p:nvPr>
        </p:nvSpPr>
        <p:spPr>
          <a:xfrm>
            <a:off x="311700" y="1538400"/>
            <a:ext cx="8520600" cy="2066700"/>
          </a:xfrm>
          <a:prstGeom prst="rect">
            <a:avLst/>
          </a:prstGeom>
        </p:spPr>
        <p:txBody>
          <a:bodyPr lIns="91425" tIns="91425" rIns="91425" bIns="91425" anchor="t" anchorCtr="0">
            <a:noAutofit/>
          </a:bodyPr>
          <a:lstStyle/>
          <a:p>
            <a:pPr marL="457200" lvl="0" indent="-304800" rtl="0">
              <a:spcBef>
                <a:spcPts val="0"/>
              </a:spcBef>
              <a:buClr>
                <a:srgbClr val="333333"/>
              </a:buClr>
              <a:buSzPct val="100000"/>
              <a:buFont typeface="Times New Roman"/>
              <a:buChar char="●"/>
            </a:pPr>
            <a:r>
              <a:rPr lang="en">
                <a:solidFill>
                  <a:srgbClr val="333333"/>
                </a:solidFill>
                <a:highlight>
                  <a:srgbClr val="FCFCFC"/>
                </a:highlight>
                <a:latin typeface="Times New Roman"/>
                <a:ea typeface="Times New Roman"/>
                <a:cs typeface="Times New Roman"/>
                <a:sym typeface="Times New Roman"/>
              </a:rPr>
              <a:t>We will each add at least two papers that we have categorized off of our papers standards which will be about 20% of the data they originally collected</a:t>
            </a:r>
            <a:r>
              <a:rPr lang="en" sz="1200">
                <a:solidFill>
                  <a:srgbClr val="333333"/>
                </a:solidFill>
                <a:highlight>
                  <a:srgbClr val="FCFCFC"/>
                </a:highlight>
                <a:latin typeface="Times New Roman"/>
                <a:ea typeface="Times New Roman"/>
                <a:cs typeface="Times New Roman"/>
                <a:sym typeface="Times New Roman"/>
              </a:rPr>
              <a:t>.</a:t>
            </a:r>
          </a:p>
          <a:p>
            <a:pPr lvl="0" rtl="0">
              <a:spcBef>
                <a:spcPts val="0"/>
              </a:spcBef>
              <a:buNone/>
            </a:pPr>
            <a:endParaRPr sz="1200">
              <a:solidFill>
                <a:srgbClr val="333333"/>
              </a:solidFill>
              <a:highlight>
                <a:srgbClr val="FCFCFC"/>
              </a:highlight>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780</Words>
  <Application>Microsoft Office PowerPoint</Application>
  <PresentationFormat>On-screen Show (16:9)</PresentationFormat>
  <Paragraphs>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simple-light-2</vt:lpstr>
      <vt:lpstr>Gamification</vt:lpstr>
      <vt:lpstr>Gamification and Non-Game Contexts</vt:lpstr>
      <vt:lpstr>“A systematic mapping study on gamified software quality”</vt:lpstr>
      <vt:lpstr>Search Criteria</vt:lpstr>
      <vt:lpstr>IEEE Digital Library</vt:lpstr>
      <vt:lpstr>Characteristics of Paper</vt:lpstr>
      <vt:lpstr>SpringerLink</vt:lpstr>
      <vt:lpstr>Characteristics of Paper</vt:lpstr>
      <vt:lpstr>ACM Digital Library</vt:lpstr>
      <vt:lpstr>Characteristics of Paper</vt:lpstr>
      <vt:lpstr>Bibliography</vt:lpstr>
      <vt:lpstr>Contribution to Final Paper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Gamification</dc:title>
  <dc:creator>Trent Scott</dc:creator>
  <cp:lastModifiedBy>Trent Scott</cp:lastModifiedBy>
  <cp:revision>3</cp:revision>
  <dcterms:modified xsi:type="dcterms:W3CDTF">2016-12-14T22:51:07Z</dcterms:modified>
</cp:coreProperties>
</file>